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everyone. My name is Sheikh Sayed Bin Rahman from the PIC Lab. Today I will present the paper "Agentic Artificial Intelligence in Eye Care: Is Clinical Autonomy Finally Within Reach?" by Ke Zou and colleagues, with Yih-Chung Tham as the corresponding author. It was published in The Lancet Digital Health in March 2026. The authors are from the National University of Singapore, the Singapore Eye Research Institute, Yale University, and Moorfields Eye Hospital together with University College London. The paper discusses how agentic AI, meaning multiple autonomous AI agents working together, could change clinical workflows in ophthalmology.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a quick word about the venue. The Lancet Digital Health is a Q1 journal across all major ranking systems. On SCImago it has an SJR of 6.838, and it is Q1 in every category it is indexed in: Health Informatics, Health Information Management, Medicine miscellaneous, and Decision Sciences miscellaneous. The most recent 2025 SJR edition also lists it as Q1. In Clarivate's Journal Citation Reports it is indexed in SCIE, with an impact factor of 24.1 for 2024 and 25.5 for 2025. That places it in about the top 2 percent of its categories, at the 98.1st percentile. Its Scopus CiteScore is 38.4, also Q1. One important note: this article is a Comment, which is a perspective paper. It proposes a conceptual framework and does not report experiments, so the methodology part of this talk is about the framework the authors propose.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motivation. Foundation models, meaning large language models and vision-language models, have pushed medical AI forward a lot. However, the authors point out that these models are reactive. They only produce an output when someone gives them an explicit prompt, and they are limited by task-specific training. They cannot keep track of changes in the clinical context, bring in new information on their own, adjust their reasoning, or take an action without a human. At the same time, ophthalmology faces a global shortage of specialists, while ageing populations and comorbidities make cases more complex. So the question of the paper is: can agentic AI take over routine clinical tasks, so that clinicians can focus on the final decisions?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key concepts. On the left is a plain foundation model: you give it a prompt and it gives you an output. In the middle, an AI agent is a foundation model with two additions: goal-oriented reasoning and the ability to use tools. On the right, agentic AI is a multi-agent design. Several specialised agents interact, share context, and dynamically coordinate how tasks are carried out. The authors highlight these key attributes: real-time adaptability, contextual awareness, autonomous decision making, planning and tool selection, and proactive actions, for example adjusting a treatment plan based on the patient's response. In short, agentic AI moves from passive prediction to actively supporting the clinician through the whole decision process.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figure of the paper, which I extracted directly from the PDF. It has three panels and it forms the methodology of the paper. Panel A shows today's traditional AI-assisted care model. Panel B shows the proposed care model with medical agentic AI. Panel C applies this idea to a concrete case: an eye agentic AI system for cataract disease. I will now go through each panel in detail.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A is the traditional model, which is the baseline. The patient gives a history to the clinician. The clinician orders diagnostic tests. The history, examination results, and records are stored in the electronic health record. An AI model then reads this information and produces a preliminary diagnosis. Finally, the clinician makes the diagnosis and treatment plan. The key limitation is that the AI acts only when the clinician asks it to, and only for one isolated task. It has limited autonomy and needs a lot of clinician oversight, which takes up the clinician's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B is the proposed care model with medical agentic AI. After the patient gives a history, a multi-agent system takes over most of the intermediate steps. As shown in the dashed box, the agents first devise a clinical plan, then order the tests, then produce a preliminary diagnosis, and finally generate reports. The clinician receives these outputs and focuses on the final diagnosis and management. The main idea is that routine or cognitively demanding tasks, such as history taking and summarising notes, are handled by the agents. This reduces the clinician's workload and improves efficiency, while the clinician stays in control of the final decision.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 the authors pick ophthalmology? There are several reasons. First, there is a global shortage of ophthalmologists while demand keeps growing. Second, ageing populations and comorbidities make care more complex and personalised. Third, eye care is highly multimodal, with fundus photos, slit-lamp images, OCT and clinical measurements, which suits a combination of vision-language models and language models. Fourth, it is protocol-driven: standard examinations like visual acuity, intraocular pressure, refraction and dilation map naturally onto agent tasks. Also, an eye-specific agent that has both ophthalmic and systemic knowledge can bridge gaps between subspecialties and use resources better.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C is the cataract use case. On the left, in orange, are the patient's needs: an initial consultation, questions about surgery or medication, and chronic conditions. In the middle, in the red box, is the eye agentic AI system with four specialised agents working in sequence: the imaging agent, the diagnosis agent, the summarisation agent, and the scheduling agent. On the right, in green, is the ophthalmologist, who confirms the diagnosis, administers treatment, and performs the follow-up examination. So the agents prepare everything, and the human expert makes the final call.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each agent. The first agent uses an LLM to collect the patient's eye complaints and visual demands, and then orders the preliminary tests by itself: visual acuity, intraocular pressure, refraction, dilation, and a fundus photo. Next, the diagnosis agent uses a vision-language model to analyse the ocular images and give a preliminary diagnosis: cataract and any other possible comorbidities, based on evidence such as lens opacity and reduced visual acuity. Then the summarisation agent, also LLM-based, compiles all diagnostic information into a report and a preliminary treatment plan, and forwards it to the clinician. Finally, if a significant cataract is detected, the scheduling agent is triggered. It books the surgery, recommends a suitable artificial lens implant, and prepares a tailored post-surgery follow-up plan. As a result, the consultation, diagnostic interpretation, and follow-up preparation are all completed before the clinician's final review.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there are serious challenges, and the authors list five. First, computational cost: multi-agent systems must store and process clinical history, images, and the dialogue between agents, which strains edge and mobile devices. Second, coordination is fragile. Without standard protocols and shared goals, agents might give inconsistent outputs or compete for resources, especially in complex workflows such as emergency triage. Third, emergent behaviour: for example, the scheduling and diagnosis agents might prioritise high-risk patients inconsistently, delaying urgent cases. Fourth, debugging and traceability: as the number of agents grows, it becomes hard to trace how a decision was made, which hurts transparency and clinician trust. Fifth, fairness, ethics, and patient safety are still largely unexplored for these systems.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address these challenges, the authors propose four key enablers. First, human-in-the-loop designs, so that experts can guide the agents and correct errors in time. Second, standardised communication protocols and semantic planning frameworks to improve coordination and keep agent outputs aligned with clinical workflows and intent. Third, verifiable governance: monitoring the system's behaviour in real time, enforcing safety limits, and using models that predict how the system will interact with its environment. Fourth, for cross-specialty collaboration, for example between ophthalmic and systemic agents, shared causal reasoning and coherent context modelling are needed for interpretability. Underlying all of this, privacy and fairness must be built in from the start, otherwise clinicians and patients will not trust these systems.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agentic AI moves medical AI from reactive prediction towards autonomous, interactive, and adaptive assistance. It could analyse clinical patterns, assist diagnosis, personalise treatment, and support long-term care. Ophthalmology is a strong first domain because it is multimodal and protocol-driven, and the cataract case shows how four agents could complete the consultation pipeline before the clinician reviews it. So, to answer the title question, my reading is: partially. The technology seems ready for supervised autonomy on routine tasks, but full autonomy still depends on solving safety, coordination, and trust.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here is my own critical assessment for our discussion. This slide is my view, not the authors'. On the strengths side, the paper gives a very clear conceptual comparison between traditional and agentic AI, a concrete end-to-end use case, and a balanced discussion of challenges. It also comes from a strong team and is published in a high-impact venue. On the limitations side, because it is a Comment, there is no implementation, no dataset, and no quantitative evaluation. The architecture, the specific models, and the communication protocol between agents are not specified, and there are no measurements of latency, accuracy, or cost. Security and privacy of the communication between agents, and feasibility on edge devices, are mentioned but not analysed. These open questions are relevant to our lab's work on secure, resource-constrained IoT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I'm happy to take any questions or comments, and the full citation of the paper is shown here on the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64008"/>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10698480" cy="457200"/>
          </a:xfrm>
          <a:prstGeom prst="rect">
            <a:avLst/>
          </a:prstGeom>
          <a:noFill/>
        </p:spPr>
        <p:txBody>
          <a:bodyPr wrap="square" anchor="t" lIns="45720" rIns="45720">
            <a:spAutoFit/>
          </a:bodyPr>
          <a:lstStyle/>
          <a:p>
            <a:pPr algn="l">
              <a:spcAft>
                <a:spcPts val="600"/>
              </a:spcAft>
            </a:pPr>
            <a:r>
              <a:rPr sz="1600" b="1" i="0">
                <a:solidFill>
                  <a:srgbClr val="F0A21C"/>
                </a:solidFill>
                <a:latin typeface="Calibri"/>
              </a:rPr>
              <a:t>LAB PAPER PRESENTATION</a:t>
            </a:r>
          </a:p>
        </p:txBody>
      </p:sp>
      <p:sp>
        <p:nvSpPr>
          <p:cNvPr id="5" name="TextBox 4"/>
          <p:cNvSpPr txBox="1"/>
          <p:nvPr/>
        </p:nvSpPr>
        <p:spPr>
          <a:xfrm>
            <a:off x="731520" y="1371600"/>
            <a:ext cx="10698480" cy="1828800"/>
          </a:xfrm>
          <a:prstGeom prst="rect">
            <a:avLst/>
          </a:prstGeom>
          <a:noFill/>
        </p:spPr>
        <p:txBody>
          <a:bodyPr wrap="square" anchor="t" lIns="45720" rIns="45720">
            <a:spAutoFit/>
          </a:bodyPr>
          <a:lstStyle/>
          <a:p>
            <a:pPr algn="l">
              <a:spcAft>
                <a:spcPts val="600"/>
              </a:spcAft>
            </a:pPr>
            <a:r>
              <a:rPr sz="4000" b="1" i="0">
                <a:solidFill>
                  <a:srgbClr val="FFFFFF"/>
                </a:solidFill>
                <a:latin typeface="Calibri"/>
              </a:rPr>
              <a:t>Agentic Artificial Intelligence in Eye Care:
Is Clinical Autonomy Finally Within Reach?</a:t>
            </a:r>
          </a:p>
        </p:txBody>
      </p:sp>
      <p:sp>
        <p:nvSpPr>
          <p:cNvPr id="6" name="TextBox 5"/>
          <p:cNvSpPr txBox="1"/>
          <p:nvPr/>
        </p:nvSpPr>
        <p:spPr>
          <a:xfrm>
            <a:off x="731520" y="3246120"/>
            <a:ext cx="10698480" cy="822960"/>
          </a:xfrm>
          <a:prstGeom prst="rect">
            <a:avLst/>
          </a:prstGeom>
          <a:noFill/>
        </p:spPr>
        <p:txBody>
          <a:bodyPr wrap="square" anchor="t" lIns="45720" rIns="45720">
            <a:spAutoFit/>
          </a:bodyPr>
          <a:lstStyle/>
          <a:p>
            <a:pPr algn="l">
              <a:spcAft>
                <a:spcPts val="600"/>
              </a:spcAft>
            </a:pPr>
            <a:r>
              <a:rPr sz="1700" b="0" i="0">
                <a:solidFill>
                  <a:srgbClr val="D6DBEA"/>
                </a:solidFill>
                <a:latin typeface="Calibri"/>
              </a:rPr>
              <a:t>Ke Zou, Jocelyn Hui Lin Goh, Gabriel Dawei Yang, Sahana Srinivasan, Qingyu Chen, Pearse A. Keane, Yih-Chung Tham*</a:t>
            </a:r>
          </a:p>
        </p:txBody>
      </p:sp>
      <p:sp>
        <p:nvSpPr>
          <p:cNvPr id="7" name="TextBox 6"/>
          <p:cNvSpPr txBox="1"/>
          <p:nvPr/>
        </p:nvSpPr>
        <p:spPr>
          <a:xfrm>
            <a:off x="731520" y="4434840"/>
            <a:ext cx="10698480" cy="1463040"/>
          </a:xfrm>
          <a:prstGeom prst="rect">
            <a:avLst/>
          </a:prstGeom>
          <a:noFill/>
        </p:spPr>
        <p:txBody>
          <a:bodyPr wrap="square" anchor="t" lIns="45720" rIns="45720">
            <a:spAutoFit/>
          </a:bodyPr>
          <a:lstStyle/>
          <a:p>
            <a:pPr algn="l">
              <a:spcAft>
                <a:spcPts val="600"/>
              </a:spcAft>
            </a:pPr>
            <a:r>
              <a:rPr sz="1800" b="1" i="0">
                <a:solidFill>
                  <a:srgbClr val="FFFFFF"/>
                </a:solidFill>
                <a:latin typeface="Calibri"/>
              </a:rPr>
              <a:t>The Lancet Digital Health, Vol 8, March 2026, 100967  (Comment)</a:t>
            </a:r>
          </a:p>
          <a:p>
            <a:pPr algn="l">
              <a:spcAft>
                <a:spcPts val="600"/>
              </a:spcAft>
            </a:pPr>
            <a:r>
              <a:rPr sz="1500" b="0" i="0">
                <a:solidFill>
                  <a:srgbClr val="D6DBEA"/>
                </a:solidFill>
                <a:latin typeface="Calibri"/>
              </a:rPr>
              <a:t>Published online 19 Feb 2026   |   doi: 10.1016/j.landig.2025.100967</a:t>
            </a:r>
          </a:p>
          <a:p>
            <a:pPr algn="l">
              <a:spcAft>
                <a:spcPts val="600"/>
              </a:spcAft>
            </a:pPr>
            <a:r>
              <a:rPr sz="1500" b="0" i="0">
                <a:solidFill>
                  <a:srgbClr val="D6DBEA"/>
                </a:solidFill>
                <a:latin typeface="Calibri"/>
              </a:rPr>
              <a:t>National University of Singapore  •  Singapore Eye Research Institute  •  Yale  •  Moorfields / UCL</a:t>
            </a:r>
          </a:p>
        </p:txBody>
      </p:sp>
      <p:sp>
        <p:nvSpPr>
          <p:cNvPr id="8" name="TextBox 7"/>
          <p:cNvSpPr txBox="1"/>
          <p:nvPr/>
        </p:nvSpPr>
        <p:spPr>
          <a:xfrm>
            <a:off x="731520" y="5760720"/>
            <a:ext cx="10698480" cy="822960"/>
          </a:xfrm>
          <a:prstGeom prst="rect">
            <a:avLst/>
          </a:prstGeom>
          <a:noFill/>
        </p:spPr>
        <p:txBody>
          <a:bodyPr wrap="square" anchor="t" lIns="45720" rIns="45720">
            <a:spAutoFit/>
          </a:bodyPr>
          <a:lstStyle/>
          <a:p>
            <a:pPr algn="l">
              <a:spcAft>
                <a:spcPts val="200"/>
              </a:spcAft>
            </a:pPr>
            <a:r>
              <a:rPr sz="1700" b="1" i="0">
                <a:solidFill>
                  <a:srgbClr val="F0A21C"/>
                </a:solidFill>
                <a:latin typeface="Calibri"/>
              </a:rPr>
              <a:t>Presented by: Sheikh Sayed Bin Rahman</a:t>
            </a:r>
          </a:p>
          <a:p>
            <a:pPr algn="l">
              <a:spcAft>
                <a:spcPts val="600"/>
              </a:spcAft>
            </a:pPr>
            <a:r>
              <a:rPr sz="1500" b="0" i="0">
                <a:solidFill>
                  <a:srgbClr val="D6DBEA"/>
                </a:solidFill>
                <a:latin typeface="Calibri"/>
              </a:rPr>
              <a:t>PIC Lab, Kumoh National Institute of Technology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731520"/>
          </a:xfrm>
          <a:prstGeom prst="rect">
            <a:avLst/>
          </a:prstGeom>
          <a:noFill/>
        </p:spPr>
        <p:txBody>
          <a:bodyPr wrap="square" anchor="ctr" lIns="45720" rIns="45720">
            <a:spAutoFit/>
          </a:bodyPr>
          <a:lstStyle/>
          <a:p>
            <a:pPr algn="l">
              <a:spcAft>
                <a:spcPts val="600"/>
              </a:spcAft>
            </a:pPr>
            <a:r>
              <a:rPr sz="3000" b="1" i="0">
                <a:solidFill>
                  <a:srgbClr val="FFFFFF"/>
                </a:solidFill>
                <a:latin typeface="Calibri"/>
              </a:rPr>
              <a:t>About the Journal: The Lancet Digital Health</a:t>
            </a:r>
          </a:p>
        </p:txBody>
      </p:sp>
      <p:sp>
        <p:nvSpPr>
          <p:cNvPr id="5" name="TextBox 4"/>
          <p:cNvSpPr txBox="1"/>
          <p:nvPr/>
        </p:nvSpPr>
        <p:spPr>
          <a:xfrm>
            <a:off x="457200" y="1024128"/>
            <a:ext cx="11247120" cy="411480"/>
          </a:xfrm>
          <a:prstGeom prst="rect">
            <a:avLst/>
          </a:prstGeom>
          <a:noFill/>
        </p:spPr>
        <p:txBody>
          <a:bodyPr wrap="square" anchor="t" lIns="45720" rIns="45720">
            <a:spAutoFit/>
          </a:bodyPr>
          <a:lstStyle/>
          <a:p>
            <a:pPr algn="l">
              <a:spcAft>
                <a:spcPts val="600"/>
              </a:spcAft>
            </a:pPr>
            <a:r>
              <a:rPr sz="1500" b="0" i="1">
                <a:solidFill>
                  <a:srgbClr val="2E7D9A"/>
                </a:solidFill>
                <a:latin typeface="Calibri"/>
              </a:rPr>
              <a:t>A top-tier Q1 journal at the intersection of medicine and digital technology</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600"/>
              </a:spcAft>
            </a:pPr>
            <a:r>
              <a:rPr sz="1100" b="0" i="0">
                <a:solidFill>
                  <a:srgbClr val="555B6E"/>
                </a:solidFill>
                <a:latin typeface="Calibri"/>
              </a:rPr>
              <a:t>Zou et al., Lancet Digital Health 2026; 8: 100967</a:t>
            </a:r>
          </a:p>
        </p:txBody>
      </p:sp>
      <p:sp>
        <p:nvSpPr>
          <p:cNvPr id="7" name="TextBox 6"/>
          <p:cNvSpPr txBox="1"/>
          <p:nvPr/>
        </p:nvSpPr>
        <p:spPr>
          <a:xfrm>
            <a:off x="10820095" y="6446520"/>
            <a:ext cx="914400" cy="320040"/>
          </a:xfrm>
          <a:prstGeom prst="rect">
            <a:avLst/>
          </a:prstGeom>
          <a:noFill/>
        </p:spPr>
        <p:txBody>
          <a:bodyPr wrap="square" anchor="t" lIns="45720" rIns="45720">
            <a:spAutoFit/>
          </a:bodyPr>
          <a:lstStyle/>
          <a:p>
            <a:pPr algn="r">
              <a:spcAft>
                <a:spcPts val="600"/>
              </a:spcAft>
            </a:pPr>
            <a:r>
              <a:rPr sz="1100" b="0" i="0">
                <a:solidFill>
                  <a:srgbClr val="555B6E"/>
                </a:solidFill>
                <a:latin typeface="Calibri"/>
              </a:rPr>
              <a:t>2 / 15</a:t>
            </a:r>
          </a:p>
        </p:txBody>
      </p:sp>
      <p:sp>
        <p:nvSpPr>
          <p:cNvPr id="8" name="Rectangle 7"/>
          <p:cNvSpPr/>
          <p:nvPr/>
        </p:nvSpPr>
        <p:spPr>
          <a:xfrm>
            <a:off x="472287" y="1600200"/>
            <a:ext cx="3566160" cy="42062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72287" y="1600200"/>
            <a:ext cx="3566160" cy="548640"/>
          </a:xfrm>
          <a:prstGeom prst="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2287" y="1600200"/>
            <a:ext cx="3566160" cy="548640"/>
          </a:xfrm>
          <a:prstGeom prst="rect">
            <a:avLst/>
          </a:prstGeom>
          <a:noFill/>
        </p:spPr>
        <p:txBody>
          <a:bodyPr wrap="square" anchor="ctr" lIns="45720" rIns="45720">
            <a:spAutoFit/>
          </a:bodyPr>
          <a:lstStyle/>
          <a:p>
            <a:pPr algn="ctr">
              <a:spcAft>
                <a:spcPts val="600"/>
              </a:spcAft>
            </a:pPr>
            <a:r>
              <a:rPr sz="1900" b="1" i="0">
                <a:solidFill>
                  <a:srgbClr val="FFFFFF"/>
                </a:solidFill>
                <a:latin typeface="Calibri"/>
              </a:rPr>
              <a:t>SCImago (SJR)</a:t>
            </a:r>
          </a:p>
        </p:txBody>
      </p:sp>
      <p:sp>
        <p:nvSpPr>
          <p:cNvPr id="11" name="TextBox 10"/>
          <p:cNvSpPr txBox="1"/>
          <p:nvPr/>
        </p:nvSpPr>
        <p:spPr>
          <a:xfrm>
            <a:off x="472287" y="2286000"/>
            <a:ext cx="3566160" cy="822960"/>
          </a:xfrm>
          <a:prstGeom prst="rect">
            <a:avLst/>
          </a:prstGeom>
          <a:noFill/>
        </p:spPr>
        <p:txBody>
          <a:bodyPr wrap="square" anchor="t" lIns="45720" rIns="45720">
            <a:spAutoFit/>
          </a:bodyPr>
          <a:lstStyle/>
          <a:p>
            <a:pPr algn="ctr">
              <a:spcAft>
                <a:spcPts val="600"/>
              </a:spcAft>
            </a:pPr>
            <a:r>
              <a:rPr sz="3800" b="1" i="0">
                <a:solidFill>
                  <a:srgbClr val="1F2A5A"/>
                </a:solidFill>
                <a:latin typeface="Calibri"/>
              </a:rPr>
              <a:t>6.838</a:t>
            </a:r>
          </a:p>
        </p:txBody>
      </p:sp>
      <p:sp>
        <p:nvSpPr>
          <p:cNvPr id="12" name="Rounded Rectangle 11"/>
          <p:cNvSpPr/>
          <p:nvPr/>
        </p:nvSpPr>
        <p:spPr>
          <a:xfrm>
            <a:off x="1843887" y="3108960"/>
            <a:ext cx="822960" cy="384048"/>
          </a:xfrm>
          <a:prstGeom prst="roundRect">
            <a:avLst/>
          </a:prstGeom>
          <a:solidFill>
            <a:srgbClr val="4C9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43887" y="3108960"/>
            <a:ext cx="822960" cy="384048"/>
          </a:xfrm>
          <a:prstGeom prst="rect">
            <a:avLst/>
          </a:prstGeom>
          <a:noFill/>
        </p:spPr>
        <p:txBody>
          <a:bodyPr wrap="square" anchor="ctr" lIns="45720" rIns="45720">
            <a:spAutoFit/>
          </a:bodyPr>
          <a:lstStyle/>
          <a:p>
            <a:pPr algn="ctr">
              <a:spcAft>
                <a:spcPts val="600"/>
              </a:spcAft>
            </a:pPr>
            <a:r>
              <a:rPr sz="1600" b="1" i="0">
                <a:solidFill>
                  <a:srgbClr val="FFFFFF"/>
                </a:solidFill>
                <a:latin typeface="Calibri"/>
              </a:rPr>
              <a:t>Q1</a:t>
            </a:r>
          </a:p>
        </p:txBody>
      </p:sp>
      <p:sp>
        <p:nvSpPr>
          <p:cNvPr id="14" name="TextBox 13"/>
          <p:cNvSpPr txBox="1"/>
          <p:nvPr/>
        </p:nvSpPr>
        <p:spPr>
          <a:xfrm>
            <a:off x="746607" y="3611880"/>
            <a:ext cx="3017520" cy="2103120"/>
          </a:xfrm>
          <a:prstGeom prst="rect">
            <a:avLst/>
          </a:prstGeom>
          <a:noFill/>
        </p:spPr>
        <p:txBody>
          <a:bodyPr wrap="square" anchor="t" lIns="45720" rIns="45720">
            <a:spAutoFit/>
          </a:bodyPr>
          <a:lstStyle/>
          <a:p>
            <a:pPr algn="l">
              <a:spcAft>
                <a:spcPts val="600"/>
              </a:spcAft>
            </a:pPr>
            <a:r>
              <a:rPr sz="1500" b="0" i="0">
                <a:solidFill>
                  <a:srgbClr val="555B6E"/>
                </a:solidFill>
                <a:latin typeface="Calibri"/>
              </a:rPr>
              <a:t>Q1 in every indexed category:
• Health Informatics
• Health Information Management
• Medicine (miscellaneous)
• Decision Sciences (misc.)
Latest SJR edition: Q1 (2025)</a:t>
            </a:r>
          </a:p>
        </p:txBody>
      </p:sp>
      <p:sp>
        <p:nvSpPr>
          <p:cNvPr id="15" name="Rectangle 14"/>
          <p:cNvSpPr/>
          <p:nvPr/>
        </p:nvSpPr>
        <p:spPr>
          <a:xfrm>
            <a:off x="4312767" y="1600200"/>
            <a:ext cx="3566160" cy="42062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12767" y="1600200"/>
            <a:ext cx="3566160" cy="548640"/>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12767" y="1600200"/>
            <a:ext cx="3566160" cy="548640"/>
          </a:xfrm>
          <a:prstGeom prst="rect">
            <a:avLst/>
          </a:prstGeom>
          <a:noFill/>
        </p:spPr>
        <p:txBody>
          <a:bodyPr wrap="square" anchor="ctr" lIns="45720" rIns="45720">
            <a:spAutoFit/>
          </a:bodyPr>
          <a:lstStyle/>
          <a:p>
            <a:pPr algn="ctr">
              <a:spcAft>
                <a:spcPts val="600"/>
              </a:spcAft>
            </a:pPr>
            <a:r>
              <a:rPr sz="1900" b="1" i="0">
                <a:solidFill>
                  <a:srgbClr val="FFFFFF"/>
                </a:solidFill>
                <a:latin typeface="Calibri"/>
              </a:rPr>
              <a:t>Clarivate JCR (SCIE)</a:t>
            </a:r>
          </a:p>
        </p:txBody>
      </p:sp>
      <p:sp>
        <p:nvSpPr>
          <p:cNvPr id="18" name="TextBox 17"/>
          <p:cNvSpPr txBox="1"/>
          <p:nvPr/>
        </p:nvSpPr>
        <p:spPr>
          <a:xfrm>
            <a:off x="4312767" y="2286000"/>
            <a:ext cx="3566160" cy="822960"/>
          </a:xfrm>
          <a:prstGeom prst="rect">
            <a:avLst/>
          </a:prstGeom>
          <a:noFill/>
        </p:spPr>
        <p:txBody>
          <a:bodyPr wrap="square" anchor="t" lIns="45720" rIns="45720">
            <a:spAutoFit/>
          </a:bodyPr>
          <a:lstStyle/>
          <a:p>
            <a:pPr algn="ctr">
              <a:spcAft>
                <a:spcPts val="600"/>
              </a:spcAft>
            </a:pPr>
            <a:r>
              <a:rPr sz="3800" b="1" i="0">
                <a:solidFill>
                  <a:srgbClr val="C81E2B"/>
                </a:solidFill>
                <a:latin typeface="Calibri"/>
              </a:rPr>
              <a:t>IF 24.1 → 25.5</a:t>
            </a:r>
          </a:p>
        </p:txBody>
      </p:sp>
      <p:sp>
        <p:nvSpPr>
          <p:cNvPr id="19" name="Rounded Rectangle 18"/>
          <p:cNvSpPr/>
          <p:nvPr/>
        </p:nvSpPr>
        <p:spPr>
          <a:xfrm>
            <a:off x="5684367" y="3108960"/>
            <a:ext cx="822960" cy="384048"/>
          </a:xfrm>
          <a:prstGeom prst="roundRect">
            <a:avLst/>
          </a:prstGeom>
          <a:solidFill>
            <a:srgbClr val="4C9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84367" y="3108960"/>
            <a:ext cx="822960" cy="384048"/>
          </a:xfrm>
          <a:prstGeom prst="rect">
            <a:avLst/>
          </a:prstGeom>
          <a:noFill/>
        </p:spPr>
        <p:txBody>
          <a:bodyPr wrap="square" anchor="ctr" lIns="45720" rIns="45720">
            <a:spAutoFit/>
          </a:bodyPr>
          <a:lstStyle/>
          <a:p>
            <a:pPr algn="ctr">
              <a:spcAft>
                <a:spcPts val="600"/>
              </a:spcAft>
            </a:pPr>
            <a:r>
              <a:rPr sz="1600" b="1" i="0">
                <a:solidFill>
                  <a:srgbClr val="FFFFFF"/>
                </a:solidFill>
                <a:latin typeface="Calibri"/>
              </a:rPr>
              <a:t>Q1</a:t>
            </a:r>
          </a:p>
        </p:txBody>
      </p:sp>
      <p:sp>
        <p:nvSpPr>
          <p:cNvPr id="21" name="TextBox 20"/>
          <p:cNvSpPr txBox="1"/>
          <p:nvPr/>
        </p:nvSpPr>
        <p:spPr>
          <a:xfrm>
            <a:off x="4587087" y="3611880"/>
            <a:ext cx="3017520" cy="2103120"/>
          </a:xfrm>
          <a:prstGeom prst="rect">
            <a:avLst/>
          </a:prstGeom>
          <a:noFill/>
        </p:spPr>
        <p:txBody>
          <a:bodyPr wrap="square" anchor="t" lIns="45720" rIns="45720">
            <a:spAutoFit/>
          </a:bodyPr>
          <a:lstStyle/>
          <a:p>
            <a:pPr algn="l">
              <a:spcAft>
                <a:spcPts val="600"/>
              </a:spcAft>
            </a:pPr>
            <a:r>
              <a:rPr sz="1500" b="0" i="0">
                <a:solidFill>
                  <a:srgbClr val="555B6E"/>
                </a:solidFill>
                <a:latin typeface="Calibri"/>
              </a:rPr>
              <a:t>Journal Impact Factor:
• 24.1 (2024)
• 25.5 (2025)
Top ~2% of its categories
98.1st percentile — comfortably Q1</a:t>
            </a:r>
          </a:p>
        </p:txBody>
      </p:sp>
      <p:sp>
        <p:nvSpPr>
          <p:cNvPr id="22" name="Rectangle 21"/>
          <p:cNvSpPr/>
          <p:nvPr/>
        </p:nvSpPr>
        <p:spPr>
          <a:xfrm>
            <a:off x="8153247" y="1600200"/>
            <a:ext cx="3566160" cy="42062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53247" y="1600200"/>
            <a:ext cx="3566160" cy="548640"/>
          </a:xfrm>
          <a:prstGeom prst="rect">
            <a:avLst/>
          </a:prstGeom>
          <a:solidFill>
            <a:srgbClr val="2E7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53247" y="1600200"/>
            <a:ext cx="3566160" cy="548640"/>
          </a:xfrm>
          <a:prstGeom prst="rect">
            <a:avLst/>
          </a:prstGeom>
          <a:noFill/>
        </p:spPr>
        <p:txBody>
          <a:bodyPr wrap="square" anchor="ctr" lIns="45720" rIns="45720">
            <a:spAutoFit/>
          </a:bodyPr>
          <a:lstStyle/>
          <a:p>
            <a:pPr algn="ctr">
              <a:spcAft>
                <a:spcPts val="600"/>
              </a:spcAft>
            </a:pPr>
            <a:r>
              <a:rPr sz="1900" b="1" i="0">
                <a:solidFill>
                  <a:srgbClr val="FFFFFF"/>
                </a:solidFill>
                <a:latin typeface="Calibri"/>
              </a:rPr>
              <a:t>Scopus CiteScore</a:t>
            </a:r>
          </a:p>
        </p:txBody>
      </p:sp>
      <p:sp>
        <p:nvSpPr>
          <p:cNvPr id="25" name="TextBox 24"/>
          <p:cNvSpPr txBox="1"/>
          <p:nvPr/>
        </p:nvSpPr>
        <p:spPr>
          <a:xfrm>
            <a:off x="8153247" y="2286000"/>
            <a:ext cx="3566160" cy="822960"/>
          </a:xfrm>
          <a:prstGeom prst="rect">
            <a:avLst/>
          </a:prstGeom>
          <a:noFill/>
        </p:spPr>
        <p:txBody>
          <a:bodyPr wrap="square" anchor="t" lIns="45720" rIns="45720">
            <a:spAutoFit/>
          </a:bodyPr>
          <a:lstStyle/>
          <a:p>
            <a:pPr algn="ctr">
              <a:spcAft>
                <a:spcPts val="600"/>
              </a:spcAft>
            </a:pPr>
            <a:r>
              <a:rPr sz="3800" b="1" i="0">
                <a:solidFill>
                  <a:srgbClr val="2E7D9A"/>
                </a:solidFill>
                <a:latin typeface="Calibri"/>
              </a:rPr>
              <a:t>38.4</a:t>
            </a:r>
          </a:p>
        </p:txBody>
      </p:sp>
      <p:sp>
        <p:nvSpPr>
          <p:cNvPr id="26" name="Rounded Rectangle 25"/>
          <p:cNvSpPr/>
          <p:nvPr/>
        </p:nvSpPr>
        <p:spPr>
          <a:xfrm>
            <a:off x="9524847" y="3108960"/>
            <a:ext cx="822960" cy="384048"/>
          </a:xfrm>
          <a:prstGeom prst="roundRect">
            <a:avLst/>
          </a:prstGeom>
          <a:solidFill>
            <a:srgbClr val="4C9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24847" y="3108960"/>
            <a:ext cx="822960" cy="384048"/>
          </a:xfrm>
          <a:prstGeom prst="rect">
            <a:avLst/>
          </a:prstGeom>
          <a:noFill/>
        </p:spPr>
        <p:txBody>
          <a:bodyPr wrap="square" anchor="ctr" lIns="45720" rIns="45720">
            <a:spAutoFit/>
          </a:bodyPr>
          <a:lstStyle/>
          <a:p>
            <a:pPr algn="ctr">
              <a:spcAft>
                <a:spcPts val="600"/>
              </a:spcAft>
            </a:pPr>
            <a:r>
              <a:rPr sz="1600" b="1" i="0">
                <a:solidFill>
                  <a:srgbClr val="FFFFFF"/>
                </a:solidFill>
                <a:latin typeface="Calibri"/>
              </a:rPr>
              <a:t>Q1</a:t>
            </a:r>
          </a:p>
        </p:txBody>
      </p:sp>
      <p:sp>
        <p:nvSpPr>
          <p:cNvPr id="28" name="TextBox 27"/>
          <p:cNvSpPr txBox="1"/>
          <p:nvPr/>
        </p:nvSpPr>
        <p:spPr>
          <a:xfrm>
            <a:off x="8427567" y="3611880"/>
            <a:ext cx="3017520" cy="2103120"/>
          </a:xfrm>
          <a:prstGeom prst="rect">
            <a:avLst/>
          </a:prstGeom>
          <a:noFill/>
        </p:spPr>
        <p:txBody>
          <a:bodyPr wrap="square" anchor="t" lIns="45720" rIns="45720">
            <a:spAutoFit/>
          </a:bodyPr>
          <a:lstStyle/>
          <a:p>
            <a:pPr algn="l">
              <a:spcAft>
                <a:spcPts val="600"/>
              </a:spcAft>
            </a:pPr>
            <a:r>
              <a:rPr sz="1500" b="0" i="0">
                <a:solidFill>
                  <a:srgbClr val="555B6E"/>
                </a:solidFill>
                <a:latin typeface="Calibri"/>
              </a:rPr>
              <a:t>CiteScore 38.4
Ranked Q1 in Scopus</a:t>
            </a:r>
          </a:p>
        </p:txBody>
      </p:sp>
      <p:sp>
        <p:nvSpPr>
          <p:cNvPr id="29" name="TextBox 28"/>
          <p:cNvSpPr txBox="1"/>
          <p:nvPr/>
        </p:nvSpPr>
        <p:spPr>
          <a:xfrm>
            <a:off x="640080" y="5943600"/>
            <a:ext cx="10972800" cy="457200"/>
          </a:xfrm>
          <a:prstGeom prst="rect">
            <a:avLst/>
          </a:prstGeom>
          <a:noFill/>
        </p:spPr>
        <p:txBody>
          <a:bodyPr wrap="square" anchor="t" lIns="45720" rIns="45720">
            <a:spAutoFit/>
          </a:bodyPr>
          <a:lstStyle/>
          <a:p>
            <a:pPr algn="ctr">
              <a:spcAft>
                <a:spcPts val="600"/>
              </a:spcAft>
            </a:pPr>
            <a:r>
              <a:rPr sz="1400" b="0" i="1">
                <a:solidFill>
                  <a:srgbClr val="1F2A5A"/>
                </a:solidFill>
                <a:latin typeface="Calibri"/>
              </a:rPr>
              <a:t>Article type: Comment (perspective / position paper) — proposes a framework rather than reporting an experiment.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731520"/>
          </a:xfrm>
          <a:prstGeom prst="rect">
            <a:avLst/>
          </a:prstGeom>
          <a:noFill/>
        </p:spPr>
        <p:txBody>
          <a:bodyPr wrap="square" anchor="ctr" lIns="45720" rIns="45720">
            <a:spAutoFit/>
          </a:bodyPr>
          <a:lstStyle/>
          <a:p>
            <a:pPr algn="l">
              <a:spcAft>
                <a:spcPts val="600"/>
              </a:spcAft>
            </a:pPr>
            <a:r>
              <a:rPr sz="3000" b="1" i="0">
                <a:solidFill>
                  <a:srgbClr val="FFFFFF"/>
                </a:solidFill>
                <a:latin typeface="Calibri"/>
              </a:rPr>
              <a:t>Background &amp; Motivation</a:t>
            </a:r>
          </a:p>
        </p:txBody>
      </p:sp>
      <p:sp>
        <p:nvSpPr>
          <p:cNvPr id="5" name="TextBox 4"/>
          <p:cNvSpPr txBox="1"/>
          <p:nvPr/>
        </p:nvSpPr>
        <p:spPr>
          <a:xfrm>
            <a:off x="457200" y="1024128"/>
            <a:ext cx="11247120" cy="411480"/>
          </a:xfrm>
          <a:prstGeom prst="rect">
            <a:avLst/>
          </a:prstGeom>
          <a:noFill/>
        </p:spPr>
        <p:txBody>
          <a:bodyPr wrap="square" anchor="t" lIns="45720" rIns="45720">
            <a:spAutoFit/>
          </a:bodyPr>
          <a:lstStyle/>
          <a:p>
            <a:pPr algn="l">
              <a:spcAft>
                <a:spcPts val="600"/>
              </a:spcAft>
            </a:pPr>
            <a:r>
              <a:rPr sz="1500" b="0" i="1">
                <a:solidFill>
                  <a:srgbClr val="2E7D9A"/>
                </a:solidFill>
                <a:latin typeface="Calibri"/>
              </a:rPr>
              <a:t>Why current foundation models are not enough for the clinic</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600"/>
              </a:spcAft>
            </a:pPr>
            <a:r>
              <a:rPr sz="1100" b="0" i="0">
                <a:solidFill>
                  <a:srgbClr val="555B6E"/>
                </a:solidFill>
                <a:latin typeface="Calibri"/>
              </a:rPr>
              <a:t>Zou et al., Lancet Digital Health 2026; 8: 100967</a:t>
            </a:r>
          </a:p>
        </p:txBody>
      </p:sp>
      <p:sp>
        <p:nvSpPr>
          <p:cNvPr id="7" name="TextBox 6"/>
          <p:cNvSpPr txBox="1"/>
          <p:nvPr/>
        </p:nvSpPr>
        <p:spPr>
          <a:xfrm>
            <a:off x="10820095" y="6446520"/>
            <a:ext cx="914400" cy="320040"/>
          </a:xfrm>
          <a:prstGeom prst="rect">
            <a:avLst/>
          </a:prstGeom>
          <a:noFill/>
        </p:spPr>
        <p:txBody>
          <a:bodyPr wrap="square" anchor="t" lIns="45720" rIns="45720">
            <a:spAutoFit/>
          </a:bodyPr>
          <a:lstStyle/>
          <a:p>
            <a:pPr algn="r">
              <a:spcAft>
                <a:spcPts val="600"/>
              </a:spcAft>
            </a:pPr>
            <a:r>
              <a:rPr sz="1100" b="0" i="0">
                <a:solidFill>
                  <a:srgbClr val="555B6E"/>
                </a:solidFill>
                <a:latin typeface="Calibri"/>
              </a:rPr>
              <a:t>3 / 15</a:t>
            </a:r>
          </a:p>
        </p:txBody>
      </p:sp>
      <p:sp>
        <p:nvSpPr>
          <p:cNvPr id="8" name="TextBox 7"/>
          <p:cNvSpPr txBox="1"/>
          <p:nvPr/>
        </p:nvSpPr>
        <p:spPr>
          <a:xfrm>
            <a:off x="548640" y="1600200"/>
            <a:ext cx="5852160" cy="4572000"/>
          </a:xfrm>
          <a:prstGeom prst="rect">
            <a:avLst/>
          </a:prstGeom>
          <a:noFill/>
        </p:spPr>
        <p:txBody>
          <a:bodyPr wrap="square">
            <a:spAutoFit/>
          </a:bodyPr>
          <a:lstStyle/>
          <a:p>
            <a:pPr>
              <a:spcAft>
                <a:spcPts val="800"/>
              </a:spcAft>
            </a:pPr>
            <a:r>
              <a:rPr sz="1800">
                <a:solidFill>
                  <a:srgbClr val="555B6E"/>
                </a:solidFill>
                <a:latin typeface="Calibri"/>
              </a:rPr>
              <a:t>■  Foundation models — LLMs and large vision-language models (VLMs) — drive major progress in medical AI</a:t>
            </a:r>
          </a:p>
          <a:p>
            <a:pPr>
              <a:spcAft>
                <a:spcPts val="800"/>
              </a:spcAft>
            </a:pPr>
            <a:r>
              <a:rPr sz="1800">
                <a:solidFill>
                  <a:srgbClr val="555B6E"/>
                </a:solidFill>
                <a:latin typeface="Calibri"/>
              </a:rPr>
              <a:t>■  But they are reactive: they only produce output in response to an explicit prompt</a:t>
            </a:r>
          </a:p>
          <a:p>
            <a:pPr>
              <a:spcAft>
                <a:spcPts val="800"/>
              </a:spcAft>
            </a:pPr>
            <a:r>
              <a:rPr sz="1800">
                <a:solidFill>
                  <a:srgbClr val="555B6E"/>
                </a:solidFill>
                <a:latin typeface="Calibri"/>
              </a:rPr>
              <a:t>■  Constrained by task-specific training; little adaptability or autonomy</a:t>
            </a:r>
          </a:p>
          <a:p>
            <a:pPr>
              <a:spcAft>
                <a:spcPts val="800"/>
              </a:spcAft>
            </a:pPr>
            <a:r>
              <a:rPr sz="1800">
                <a:solidFill>
                  <a:srgbClr val="555B6E"/>
                </a:solidFill>
                <a:latin typeface="Calibri"/>
              </a:rPr>
              <a:t>■  Cannot continuously perceive changes in clinical context, integrate new information, adjust reasoning, or initiate actions without a human</a:t>
            </a:r>
          </a:p>
        </p:txBody>
      </p:sp>
      <p:sp>
        <p:nvSpPr>
          <p:cNvPr id="9" name="Rectangle 8"/>
          <p:cNvSpPr/>
          <p:nvPr/>
        </p:nvSpPr>
        <p:spPr>
          <a:xfrm>
            <a:off x="6766560" y="1600200"/>
            <a:ext cx="4937760" cy="20574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66560" y="1600200"/>
            <a:ext cx="82296" cy="2057400"/>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0" y="1673352"/>
            <a:ext cx="4663440" cy="457200"/>
          </a:xfrm>
          <a:prstGeom prst="rect">
            <a:avLst/>
          </a:prstGeom>
          <a:noFill/>
        </p:spPr>
        <p:txBody>
          <a:bodyPr wrap="square" anchor="t" lIns="45720" rIns="45720">
            <a:spAutoFit/>
          </a:bodyPr>
          <a:lstStyle/>
          <a:p>
            <a:pPr algn="l">
              <a:spcAft>
                <a:spcPts val="600"/>
              </a:spcAft>
            </a:pPr>
            <a:r>
              <a:rPr sz="1700" b="1" i="0">
                <a:solidFill>
                  <a:srgbClr val="C81E2B"/>
                </a:solidFill>
                <a:latin typeface="Calibri"/>
              </a:rPr>
              <a:t>The clinical problem</a:t>
            </a:r>
          </a:p>
        </p:txBody>
      </p:sp>
      <p:sp>
        <p:nvSpPr>
          <p:cNvPr id="12" name="TextBox 11"/>
          <p:cNvSpPr txBox="1"/>
          <p:nvPr/>
        </p:nvSpPr>
        <p:spPr>
          <a:xfrm>
            <a:off x="6949440" y="2103120"/>
            <a:ext cx="4663440" cy="1508760"/>
          </a:xfrm>
          <a:prstGeom prst="rect">
            <a:avLst/>
          </a:prstGeom>
          <a:noFill/>
        </p:spPr>
        <p:txBody>
          <a:bodyPr wrap="square" anchor="t" lIns="45720" rIns="45720">
            <a:spAutoFit/>
          </a:bodyPr>
          <a:lstStyle/>
          <a:p>
            <a:pPr algn="l">
              <a:spcAft>
                <a:spcPts val="600"/>
              </a:spcAft>
            </a:pPr>
            <a:r>
              <a:rPr sz="1600" b="0" i="0">
                <a:solidFill>
                  <a:srgbClr val="555B6E"/>
                </a:solidFill>
                <a:latin typeface="Calibri"/>
              </a:rPr>
              <a:t>Global shortage of ophthalmologists + ageing populations + comorbidities → rising workload and demand for personalised care.</a:t>
            </a:r>
          </a:p>
        </p:txBody>
      </p:sp>
      <p:sp>
        <p:nvSpPr>
          <p:cNvPr id="13" name="Rectangle 12"/>
          <p:cNvSpPr/>
          <p:nvPr/>
        </p:nvSpPr>
        <p:spPr>
          <a:xfrm>
            <a:off x="6766560" y="3840480"/>
            <a:ext cx="4937760" cy="20574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66560" y="3840480"/>
            <a:ext cx="82296" cy="2057400"/>
          </a:xfrm>
          <a:prstGeom prst="rect">
            <a:avLst/>
          </a:prstGeom>
          <a:solidFill>
            <a:srgbClr val="2E7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0" y="3913632"/>
            <a:ext cx="4663440" cy="457200"/>
          </a:xfrm>
          <a:prstGeom prst="rect">
            <a:avLst/>
          </a:prstGeom>
          <a:noFill/>
        </p:spPr>
        <p:txBody>
          <a:bodyPr wrap="square" anchor="t" lIns="45720" rIns="45720">
            <a:spAutoFit/>
          </a:bodyPr>
          <a:lstStyle/>
          <a:p>
            <a:pPr algn="l">
              <a:spcAft>
                <a:spcPts val="600"/>
              </a:spcAft>
            </a:pPr>
            <a:r>
              <a:rPr sz="1700" b="1" i="0">
                <a:solidFill>
                  <a:srgbClr val="2E7D9A"/>
                </a:solidFill>
                <a:latin typeface="Calibri"/>
              </a:rPr>
              <a:t>The paper's question</a:t>
            </a:r>
          </a:p>
        </p:txBody>
      </p:sp>
      <p:sp>
        <p:nvSpPr>
          <p:cNvPr id="16" name="TextBox 15"/>
          <p:cNvSpPr txBox="1"/>
          <p:nvPr/>
        </p:nvSpPr>
        <p:spPr>
          <a:xfrm>
            <a:off x="6949440" y="4343400"/>
            <a:ext cx="4663440" cy="1508760"/>
          </a:xfrm>
          <a:prstGeom prst="rect">
            <a:avLst/>
          </a:prstGeom>
          <a:noFill/>
        </p:spPr>
        <p:txBody>
          <a:bodyPr wrap="square" anchor="t" lIns="45720" rIns="45720">
            <a:spAutoFit/>
          </a:bodyPr>
          <a:lstStyle/>
          <a:p>
            <a:pPr algn="l">
              <a:spcAft>
                <a:spcPts val="600"/>
              </a:spcAft>
            </a:pPr>
            <a:r>
              <a:rPr sz="1600" b="0" i="0">
                <a:solidFill>
                  <a:srgbClr val="555B6E"/>
                </a:solidFill>
                <a:latin typeface="Calibri"/>
              </a:rPr>
              <a:t>Can agentic AI — autonomous, adaptive, collaborative agents — take over routine clinical tasks in eye care so clinicians focus on final decisions?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731520"/>
          </a:xfrm>
          <a:prstGeom prst="rect">
            <a:avLst/>
          </a:prstGeom>
          <a:noFill/>
        </p:spPr>
        <p:txBody>
          <a:bodyPr wrap="square" anchor="ctr" lIns="45720" rIns="45720">
            <a:spAutoFit/>
          </a:bodyPr>
          <a:lstStyle/>
          <a:p>
            <a:pPr algn="l">
              <a:spcAft>
                <a:spcPts val="600"/>
              </a:spcAft>
            </a:pPr>
            <a:r>
              <a:rPr sz="3000" b="1" i="0">
                <a:solidFill>
                  <a:srgbClr val="FFFFFF"/>
                </a:solidFill>
                <a:latin typeface="Calibri"/>
              </a:rPr>
              <a:t>Key Concepts: From Foundation Models to Agentic AI</a:t>
            </a:r>
          </a:p>
        </p:txBody>
      </p:sp>
      <p:sp>
        <p:nvSpPr>
          <p:cNvPr id="5" name="TextBox 4"/>
          <p:cNvSpPr txBox="1"/>
          <p:nvPr/>
        </p:nvSpPr>
        <p:spPr>
          <a:xfrm>
            <a:off x="457200" y="6446520"/>
            <a:ext cx="8229600" cy="320040"/>
          </a:xfrm>
          <a:prstGeom prst="rect">
            <a:avLst/>
          </a:prstGeom>
          <a:noFill/>
        </p:spPr>
        <p:txBody>
          <a:bodyPr wrap="square" anchor="t" lIns="45720" rIns="45720">
            <a:spAutoFit/>
          </a:bodyPr>
          <a:lstStyle/>
          <a:p>
            <a:pPr algn="l">
              <a:spcAft>
                <a:spcPts val="600"/>
              </a:spcAft>
            </a:pPr>
            <a:r>
              <a:rPr sz="1100" b="0" i="0">
                <a:solidFill>
                  <a:srgbClr val="555B6E"/>
                </a:solidFill>
                <a:latin typeface="Calibri"/>
              </a:rPr>
              <a:t>Zou et al., Lancet Digital Health 2026; 8: 100967</a:t>
            </a:r>
          </a:p>
        </p:txBody>
      </p:sp>
      <p:sp>
        <p:nvSpPr>
          <p:cNvPr id="6" name="TextBox 5"/>
          <p:cNvSpPr txBox="1"/>
          <p:nvPr/>
        </p:nvSpPr>
        <p:spPr>
          <a:xfrm>
            <a:off x="10820095" y="6446520"/>
            <a:ext cx="914400" cy="320040"/>
          </a:xfrm>
          <a:prstGeom prst="rect">
            <a:avLst/>
          </a:prstGeom>
          <a:noFill/>
        </p:spPr>
        <p:txBody>
          <a:bodyPr wrap="square" anchor="t" lIns="45720" rIns="45720">
            <a:spAutoFit/>
          </a:bodyPr>
          <a:lstStyle/>
          <a:p>
            <a:pPr algn="r">
              <a:spcAft>
                <a:spcPts val="600"/>
              </a:spcAft>
            </a:pPr>
            <a:r>
              <a:rPr sz="1100" b="0" i="0">
                <a:solidFill>
                  <a:srgbClr val="555B6E"/>
                </a:solidFill>
                <a:latin typeface="Calibri"/>
              </a:rPr>
              <a:t>4 / 15</a:t>
            </a:r>
          </a:p>
        </p:txBody>
      </p:sp>
      <p:sp>
        <p:nvSpPr>
          <p:cNvPr id="7" name="Rounded Rectangle 6"/>
          <p:cNvSpPr/>
          <p:nvPr/>
        </p:nvSpPr>
        <p:spPr>
          <a:xfrm>
            <a:off x="472287" y="1371600"/>
            <a:ext cx="3291840" cy="777240"/>
          </a:xfrm>
          <a:prstGeom prst="roundRect">
            <a:avLst/>
          </a:prstGeom>
          <a:solidFill>
            <a:srgbClr val="555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2287" y="1371600"/>
            <a:ext cx="3291840" cy="777240"/>
          </a:xfrm>
          <a:prstGeom prst="rect">
            <a:avLst/>
          </a:prstGeom>
          <a:noFill/>
        </p:spPr>
        <p:txBody>
          <a:bodyPr wrap="square" anchor="ctr" lIns="45720" rIns="45720">
            <a:spAutoFit/>
          </a:bodyPr>
          <a:lstStyle/>
          <a:p>
            <a:pPr algn="ctr">
              <a:spcAft>
                <a:spcPts val="600"/>
              </a:spcAft>
            </a:pPr>
            <a:r>
              <a:rPr sz="1900" b="1" i="0">
                <a:solidFill>
                  <a:srgbClr val="FFFFFF"/>
                </a:solidFill>
                <a:latin typeface="Calibri"/>
              </a:rPr>
              <a:t>Foundation model</a:t>
            </a:r>
          </a:p>
        </p:txBody>
      </p:sp>
      <p:sp>
        <p:nvSpPr>
          <p:cNvPr id="9" name="Rectangle 8"/>
          <p:cNvSpPr/>
          <p:nvPr/>
        </p:nvSpPr>
        <p:spPr>
          <a:xfrm>
            <a:off x="472287" y="2240280"/>
            <a:ext cx="3291840" cy="15087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447" y="2331720"/>
            <a:ext cx="3017520" cy="1371600"/>
          </a:xfrm>
          <a:prstGeom prst="rect">
            <a:avLst/>
          </a:prstGeom>
          <a:noFill/>
        </p:spPr>
        <p:txBody>
          <a:bodyPr wrap="square" anchor="ctr" lIns="45720" rIns="45720">
            <a:spAutoFit/>
          </a:bodyPr>
          <a:lstStyle/>
          <a:p>
            <a:pPr algn="ctr">
              <a:spcAft>
                <a:spcPts val="600"/>
              </a:spcAft>
            </a:pPr>
            <a:r>
              <a:rPr sz="1500" b="0" i="0">
                <a:solidFill>
                  <a:srgbClr val="555B6E"/>
                </a:solidFill>
                <a:latin typeface="Calibri"/>
              </a:rPr>
              <a:t>LLM / VLM
Reactive: prompt → output
Task-specific</a:t>
            </a:r>
          </a:p>
        </p:txBody>
      </p:sp>
      <p:sp>
        <p:nvSpPr>
          <p:cNvPr id="11" name="Right Arrow 10"/>
          <p:cNvSpPr/>
          <p:nvPr/>
        </p:nvSpPr>
        <p:spPr>
          <a:xfrm>
            <a:off x="3873855" y="2286000"/>
            <a:ext cx="466344" cy="548640"/>
          </a:xfrm>
          <a:prstGeom prst="rightArrow">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49927" y="1371600"/>
            <a:ext cx="3291840" cy="777240"/>
          </a:xfrm>
          <a:prstGeom prst="roundRect">
            <a:avLst/>
          </a:prstGeom>
          <a:solidFill>
            <a:srgbClr val="2E7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927" y="1371600"/>
            <a:ext cx="3291840" cy="777240"/>
          </a:xfrm>
          <a:prstGeom prst="rect">
            <a:avLst/>
          </a:prstGeom>
          <a:noFill/>
        </p:spPr>
        <p:txBody>
          <a:bodyPr wrap="square" anchor="ctr" lIns="45720" rIns="45720">
            <a:spAutoFit/>
          </a:bodyPr>
          <a:lstStyle/>
          <a:p>
            <a:pPr algn="ctr">
              <a:spcAft>
                <a:spcPts val="600"/>
              </a:spcAft>
            </a:pPr>
            <a:r>
              <a:rPr sz="1900" b="1" i="0">
                <a:solidFill>
                  <a:srgbClr val="FFFFFF"/>
                </a:solidFill>
                <a:latin typeface="Calibri"/>
              </a:rPr>
              <a:t>AI agent</a:t>
            </a:r>
          </a:p>
        </p:txBody>
      </p:sp>
      <p:sp>
        <p:nvSpPr>
          <p:cNvPr id="14" name="Rectangle 13"/>
          <p:cNvSpPr/>
          <p:nvPr/>
        </p:nvSpPr>
        <p:spPr>
          <a:xfrm>
            <a:off x="4449927" y="2240280"/>
            <a:ext cx="3291840" cy="15087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87087" y="2331720"/>
            <a:ext cx="3017520" cy="1371600"/>
          </a:xfrm>
          <a:prstGeom prst="rect">
            <a:avLst/>
          </a:prstGeom>
          <a:noFill/>
        </p:spPr>
        <p:txBody>
          <a:bodyPr wrap="square" anchor="ctr" lIns="45720" rIns="45720">
            <a:spAutoFit/>
          </a:bodyPr>
          <a:lstStyle/>
          <a:p>
            <a:pPr algn="ctr">
              <a:spcAft>
                <a:spcPts val="600"/>
              </a:spcAft>
            </a:pPr>
            <a:r>
              <a:rPr sz="1500" b="0" i="0">
                <a:solidFill>
                  <a:srgbClr val="555B6E"/>
                </a:solidFill>
                <a:latin typeface="Calibri"/>
              </a:rPr>
              <a:t>Foundation model
+ goal-oriented reasoning
+ tool use</a:t>
            </a:r>
          </a:p>
        </p:txBody>
      </p:sp>
      <p:sp>
        <p:nvSpPr>
          <p:cNvPr id="16" name="Right Arrow 15"/>
          <p:cNvSpPr/>
          <p:nvPr/>
        </p:nvSpPr>
        <p:spPr>
          <a:xfrm>
            <a:off x="7851495" y="2286000"/>
            <a:ext cx="466344" cy="548640"/>
          </a:xfrm>
          <a:prstGeom prst="rightArrow">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427567" y="1371600"/>
            <a:ext cx="3291840" cy="777240"/>
          </a:xfrm>
          <a:prstGeom prst="round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27567" y="1371600"/>
            <a:ext cx="3291840" cy="777240"/>
          </a:xfrm>
          <a:prstGeom prst="rect">
            <a:avLst/>
          </a:prstGeom>
          <a:noFill/>
        </p:spPr>
        <p:txBody>
          <a:bodyPr wrap="square" anchor="ctr" lIns="45720" rIns="45720">
            <a:spAutoFit/>
          </a:bodyPr>
          <a:lstStyle/>
          <a:p>
            <a:pPr algn="ctr">
              <a:spcAft>
                <a:spcPts val="600"/>
              </a:spcAft>
            </a:pPr>
            <a:r>
              <a:rPr sz="1900" b="1" i="0">
                <a:solidFill>
                  <a:srgbClr val="FFFFFF"/>
                </a:solidFill>
                <a:latin typeface="Calibri"/>
              </a:rPr>
              <a:t>Agentic AI
(multi-agent)</a:t>
            </a:r>
          </a:p>
        </p:txBody>
      </p:sp>
      <p:sp>
        <p:nvSpPr>
          <p:cNvPr id="19" name="Rectangle 18"/>
          <p:cNvSpPr/>
          <p:nvPr/>
        </p:nvSpPr>
        <p:spPr>
          <a:xfrm>
            <a:off x="8427567" y="2240280"/>
            <a:ext cx="3291840" cy="15087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64727" y="2331720"/>
            <a:ext cx="3017520" cy="1371600"/>
          </a:xfrm>
          <a:prstGeom prst="rect">
            <a:avLst/>
          </a:prstGeom>
          <a:noFill/>
        </p:spPr>
        <p:txBody>
          <a:bodyPr wrap="square" anchor="ctr" lIns="45720" rIns="45720">
            <a:spAutoFit/>
          </a:bodyPr>
          <a:lstStyle/>
          <a:p>
            <a:pPr algn="ctr">
              <a:spcAft>
                <a:spcPts val="600"/>
              </a:spcAft>
            </a:pPr>
            <a:r>
              <a:rPr sz="1500" b="0" i="0">
                <a:solidFill>
                  <a:srgbClr val="555B6E"/>
                </a:solidFill>
                <a:latin typeface="Calibri"/>
              </a:rPr>
              <a:t>Multiple specialised agents
share context, interact &amp;
orchestrate tasks dynamically</a:t>
            </a:r>
          </a:p>
        </p:txBody>
      </p:sp>
      <p:sp>
        <p:nvSpPr>
          <p:cNvPr id="21" name="TextBox 20"/>
          <p:cNvSpPr txBox="1"/>
          <p:nvPr/>
        </p:nvSpPr>
        <p:spPr>
          <a:xfrm>
            <a:off x="548640" y="4023360"/>
            <a:ext cx="10972800" cy="457200"/>
          </a:xfrm>
          <a:prstGeom prst="rect">
            <a:avLst/>
          </a:prstGeom>
          <a:noFill/>
        </p:spPr>
        <p:txBody>
          <a:bodyPr wrap="square" anchor="t" lIns="45720" rIns="45720">
            <a:spAutoFit/>
          </a:bodyPr>
          <a:lstStyle/>
          <a:p>
            <a:pPr algn="l">
              <a:spcAft>
                <a:spcPts val="600"/>
              </a:spcAft>
            </a:pPr>
            <a:r>
              <a:rPr sz="1900" b="1" i="0">
                <a:solidFill>
                  <a:srgbClr val="1F2A5A"/>
                </a:solidFill>
                <a:latin typeface="Calibri"/>
              </a:rPr>
              <a:t>Key attributes of agentic AI in medicine</a:t>
            </a:r>
          </a:p>
        </p:txBody>
      </p:sp>
      <p:sp>
        <p:nvSpPr>
          <p:cNvPr id="22" name="Rounded Rectangle 21"/>
          <p:cNvSpPr/>
          <p:nvPr/>
        </p:nvSpPr>
        <p:spPr>
          <a:xfrm>
            <a:off x="548640" y="4572000"/>
            <a:ext cx="2148840" cy="1005840"/>
          </a:xfrm>
          <a:prstGeom prst="roundRect">
            <a:avLst/>
          </a:prstGeom>
          <a:solidFill>
            <a:srgbClr val="FFFFFF"/>
          </a:solidFill>
          <a:ln w="19050">
            <a:solidFill>
              <a:srgbClr val="2E7D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572000"/>
            <a:ext cx="2148840" cy="1005840"/>
          </a:xfrm>
          <a:prstGeom prst="rect">
            <a:avLst/>
          </a:prstGeom>
          <a:noFill/>
        </p:spPr>
        <p:txBody>
          <a:bodyPr wrap="square" anchor="ctr" lIns="45720" rIns="45720">
            <a:spAutoFit/>
          </a:bodyPr>
          <a:lstStyle/>
          <a:p>
            <a:pPr algn="ctr">
              <a:spcAft>
                <a:spcPts val="600"/>
              </a:spcAft>
            </a:pPr>
            <a:r>
              <a:rPr sz="1400" b="1" i="0">
                <a:solidFill>
                  <a:srgbClr val="1F2A5A"/>
                </a:solidFill>
                <a:latin typeface="Calibri"/>
              </a:rPr>
              <a:t>Real-time adaptability</a:t>
            </a:r>
          </a:p>
        </p:txBody>
      </p:sp>
      <p:sp>
        <p:nvSpPr>
          <p:cNvPr id="24" name="Rounded Rectangle 23"/>
          <p:cNvSpPr/>
          <p:nvPr/>
        </p:nvSpPr>
        <p:spPr>
          <a:xfrm>
            <a:off x="2807208" y="4572000"/>
            <a:ext cx="2148840" cy="1005840"/>
          </a:xfrm>
          <a:prstGeom prst="roundRect">
            <a:avLst/>
          </a:prstGeom>
          <a:solidFill>
            <a:srgbClr val="FFFFFF"/>
          </a:solidFill>
          <a:ln w="19050">
            <a:solidFill>
              <a:srgbClr val="2E7D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07208" y="4572000"/>
            <a:ext cx="2148840" cy="1005840"/>
          </a:xfrm>
          <a:prstGeom prst="rect">
            <a:avLst/>
          </a:prstGeom>
          <a:noFill/>
        </p:spPr>
        <p:txBody>
          <a:bodyPr wrap="square" anchor="ctr" lIns="45720" rIns="45720">
            <a:spAutoFit/>
          </a:bodyPr>
          <a:lstStyle/>
          <a:p>
            <a:pPr algn="ctr">
              <a:spcAft>
                <a:spcPts val="600"/>
              </a:spcAft>
            </a:pPr>
            <a:r>
              <a:rPr sz="1400" b="1" i="0">
                <a:solidFill>
                  <a:srgbClr val="1F2A5A"/>
                </a:solidFill>
                <a:latin typeface="Calibri"/>
              </a:rPr>
              <a:t>Contextual awareness</a:t>
            </a:r>
          </a:p>
        </p:txBody>
      </p:sp>
      <p:sp>
        <p:nvSpPr>
          <p:cNvPr id="26" name="Rounded Rectangle 25"/>
          <p:cNvSpPr/>
          <p:nvPr/>
        </p:nvSpPr>
        <p:spPr>
          <a:xfrm>
            <a:off x="5065776" y="4572000"/>
            <a:ext cx="2148840" cy="1005840"/>
          </a:xfrm>
          <a:prstGeom prst="roundRect">
            <a:avLst/>
          </a:prstGeom>
          <a:solidFill>
            <a:srgbClr val="FFFFFF"/>
          </a:solidFill>
          <a:ln w="19050">
            <a:solidFill>
              <a:srgbClr val="2E7D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65776" y="4572000"/>
            <a:ext cx="2148840" cy="1005840"/>
          </a:xfrm>
          <a:prstGeom prst="rect">
            <a:avLst/>
          </a:prstGeom>
          <a:noFill/>
        </p:spPr>
        <p:txBody>
          <a:bodyPr wrap="square" anchor="ctr" lIns="45720" rIns="45720">
            <a:spAutoFit/>
          </a:bodyPr>
          <a:lstStyle/>
          <a:p>
            <a:pPr algn="ctr">
              <a:spcAft>
                <a:spcPts val="600"/>
              </a:spcAft>
            </a:pPr>
            <a:r>
              <a:rPr sz="1400" b="1" i="0">
                <a:solidFill>
                  <a:srgbClr val="1F2A5A"/>
                </a:solidFill>
                <a:latin typeface="Calibri"/>
              </a:rPr>
              <a:t>Autonomous decision making</a:t>
            </a:r>
          </a:p>
        </p:txBody>
      </p:sp>
      <p:sp>
        <p:nvSpPr>
          <p:cNvPr id="28" name="Rounded Rectangle 27"/>
          <p:cNvSpPr/>
          <p:nvPr/>
        </p:nvSpPr>
        <p:spPr>
          <a:xfrm>
            <a:off x="7324344" y="4572000"/>
            <a:ext cx="2148840" cy="1005840"/>
          </a:xfrm>
          <a:prstGeom prst="roundRect">
            <a:avLst/>
          </a:prstGeom>
          <a:solidFill>
            <a:srgbClr val="FFFFFF"/>
          </a:solidFill>
          <a:ln w="19050">
            <a:solidFill>
              <a:srgbClr val="2E7D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24344" y="4572000"/>
            <a:ext cx="2148840" cy="1005840"/>
          </a:xfrm>
          <a:prstGeom prst="rect">
            <a:avLst/>
          </a:prstGeom>
          <a:noFill/>
        </p:spPr>
        <p:txBody>
          <a:bodyPr wrap="square" anchor="ctr" lIns="45720" rIns="45720">
            <a:spAutoFit/>
          </a:bodyPr>
          <a:lstStyle/>
          <a:p>
            <a:pPr algn="ctr">
              <a:spcAft>
                <a:spcPts val="600"/>
              </a:spcAft>
            </a:pPr>
            <a:r>
              <a:rPr sz="1400" b="1" i="0">
                <a:solidFill>
                  <a:srgbClr val="1F2A5A"/>
                </a:solidFill>
                <a:latin typeface="Calibri"/>
              </a:rPr>
              <a:t>Planning &amp; tool selection</a:t>
            </a:r>
          </a:p>
        </p:txBody>
      </p:sp>
      <p:sp>
        <p:nvSpPr>
          <p:cNvPr id="30" name="Rounded Rectangle 29"/>
          <p:cNvSpPr/>
          <p:nvPr/>
        </p:nvSpPr>
        <p:spPr>
          <a:xfrm>
            <a:off x="9582912" y="4572000"/>
            <a:ext cx="2148840" cy="1005840"/>
          </a:xfrm>
          <a:prstGeom prst="roundRect">
            <a:avLst/>
          </a:prstGeom>
          <a:solidFill>
            <a:srgbClr val="FFFFFF"/>
          </a:solidFill>
          <a:ln w="19050">
            <a:solidFill>
              <a:srgbClr val="2E7D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82912" y="4572000"/>
            <a:ext cx="2148840" cy="1005840"/>
          </a:xfrm>
          <a:prstGeom prst="rect">
            <a:avLst/>
          </a:prstGeom>
          <a:noFill/>
        </p:spPr>
        <p:txBody>
          <a:bodyPr wrap="square" anchor="ctr" lIns="45720" rIns="45720">
            <a:spAutoFit/>
          </a:bodyPr>
          <a:lstStyle/>
          <a:p>
            <a:pPr algn="ctr">
              <a:spcAft>
                <a:spcPts val="600"/>
              </a:spcAft>
            </a:pPr>
            <a:r>
              <a:rPr sz="1400" b="1" i="0">
                <a:solidFill>
                  <a:srgbClr val="1F2A5A"/>
                </a:solidFill>
                <a:latin typeface="Calibri"/>
              </a:rPr>
              <a:t>Proactive action (e.g., adjust treatment plans)</a:t>
            </a:r>
          </a:p>
        </p:txBody>
      </p:sp>
      <p:sp>
        <p:nvSpPr>
          <p:cNvPr id="32" name="TextBox 31"/>
          <p:cNvSpPr txBox="1"/>
          <p:nvPr/>
        </p:nvSpPr>
        <p:spPr>
          <a:xfrm>
            <a:off x="548640" y="5760720"/>
            <a:ext cx="10972800" cy="457200"/>
          </a:xfrm>
          <a:prstGeom prst="rect">
            <a:avLst/>
          </a:prstGeom>
          <a:noFill/>
        </p:spPr>
        <p:txBody>
          <a:bodyPr wrap="square" anchor="t" lIns="45720" rIns="45720">
            <a:spAutoFit/>
          </a:bodyPr>
          <a:lstStyle/>
          <a:p>
            <a:pPr algn="l">
              <a:spcAft>
                <a:spcPts val="600"/>
              </a:spcAft>
            </a:pPr>
            <a:r>
              <a:rPr sz="1400" b="0" i="1">
                <a:solidFill>
                  <a:srgbClr val="555B6E"/>
                </a:solidFill>
                <a:latin typeface="Calibri"/>
              </a:rPr>
              <a:t>Goes beyond passive prediction: integrates history, symptoms and current condition to suggest diagnoses and personalised management.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731520"/>
          </a:xfrm>
          <a:prstGeom prst="rect">
            <a:avLst/>
          </a:prstGeom>
          <a:noFill/>
        </p:spPr>
        <p:txBody>
          <a:bodyPr wrap="square" anchor="ctr" lIns="45720" rIns="45720">
            <a:spAutoFit/>
          </a:bodyPr>
          <a:lstStyle/>
          <a:p>
            <a:pPr algn="l">
              <a:spcAft>
                <a:spcPts val="600"/>
              </a:spcAft>
            </a:pPr>
            <a:r>
              <a:rPr sz="3000" b="1" i="0">
                <a:solidFill>
                  <a:srgbClr val="FFFFFF"/>
                </a:solidFill>
                <a:latin typeface="Calibri"/>
              </a:rPr>
              <a:t>Methodology Overview: The Proposed Framework</a:t>
            </a:r>
          </a:p>
        </p:txBody>
      </p:sp>
      <p:sp>
        <p:nvSpPr>
          <p:cNvPr id="5" name="TextBox 4"/>
          <p:cNvSpPr txBox="1"/>
          <p:nvPr/>
        </p:nvSpPr>
        <p:spPr>
          <a:xfrm>
            <a:off x="457200" y="1024128"/>
            <a:ext cx="11247120" cy="411480"/>
          </a:xfrm>
          <a:prstGeom prst="rect">
            <a:avLst/>
          </a:prstGeom>
          <a:noFill/>
        </p:spPr>
        <p:txBody>
          <a:bodyPr wrap="square" anchor="t" lIns="45720" rIns="45720">
            <a:spAutoFit/>
          </a:bodyPr>
          <a:lstStyle/>
          <a:p>
            <a:pPr algn="l">
              <a:spcAft>
                <a:spcPts val="600"/>
              </a:spcAft>
            </a:pPr>
            <a:r>
              <a:rPr sz="1500" b="0" i="1">
                <a:solidFill>
                  <a:srgbClr val="2E7D9A"/>
                </a:solidFill>
                <a:latin typeface="Calibri"/>
              </a:rPr>
              <a:t>Figure: Shift from traditional AI to agentic AI in medical workflows (extracted from the paper)</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600"/>
              </a:spcAft>
            </a:pPr>
            <a:r>
              <a:rPr sz="1100" b="0" i="0">
                <a:solidFill>
                  <a:srgbClr val="555B6E"/>
                </a:solidFill>
                <a:latin typeface="Calibri"/>
              </a:rPr>
              <a:t>Zou et al., Lancet Digital Health 2026; 8: 100967</a:t>
            </a:r>
          </a:p>
        </p:txBody>
      </p:sp>
      <p:sp>
        <p:nvSpPr>
          <p:cNvPr id="7" name="TextBox 6"/>
          <p:cNvSpPr txBox="1"/>
          <p:nvPr/>
        </p:nvSpPr>
        <p:spPr>
          <a:xfrm>
            <a:off x="10820095" y="6446520"/>
            <a:ext cx="914400" cy="320040"/>
          </a:xfrm>
          <a:prstGeom prst="rect">
            <a:avLst/>
          </a:prstGeom>
          <a:noFill/>
        </p:spPr>
        <p:txBody>
          <a:bodyPr wrap="square" anchor="t" lIns="45720" rIns="45720">
            <a:spAutoFit/>
          </a:bodyPr>
          <a:lstStyle/>
          <a:p>
            <a:pPr algn="r">
              <a:spcAft>
                <a:spcPts val="600"/>
              </a:spcAft>
            </a:pPr>
            <a:r>
              <a:rPr sz="1100" b="0" i="0">
                <a:solidFill>
                  <a:srgbClr val="555B6E"/>
                </a:solidFill>
                <a:latin typeface="Calibri"/>
              </a:rPr>
              <a:t>5 / 15</a:t>
            </a:r>
          </a:p>
        </p:txBody>
      </p:sp>
      <p:pic>
        <p:nvPicPr>
          <p:cNvPr id="8" name="Picture 7" descr="figure_full.png"/>
          <p:cNvPicPr>
            <a:picLocks noChangeAspect="1"/>
          </p:cNvPicPr>
          <p:nvPr/>
        </p:nvPicPr>
        <p:blipFill>
          <a:blip r:embed="rId2"/>
          <a:stretch>
            <a:fillRect/>
          </a:stretch>
        </p:blipFill>
        <p:spPr>
          <a:xfrm>
            <a:off x="956496" y="1463040"/>
            <a:ext cx="6408047" cy="4892040"/>
          </a:xfrm>
          <a:prstGeom prst="rect">
            <a:avLst/>
          </a:prstGeom>
          <a:ln w="12700">
            <a:solidFill>
              <a:srgbClr val="C8CCD6"/>
            </a:solidFill>
          </a:ln>
        </p:spPr>
      </p:pic>
      <p:sp>
        <p:nvSpPr>
          <p:cNvPr id="9" name="Rectangle 8"/>
          <p:cNvSpPr/>
          <p:nvPr/>
        </p:nvSpPr>
        <p:spPr>
          <a:xfrm>
            <a:off x="8183879" y="1463040"/>
            <a:ext cx="3657600" cy="14630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83879" y="1463040"/>
            <a:ext cx="82296" cy="1463040"/>
          </a:xfrm>
          <a:prstGeom prst="rect">
            <a:avLst/>
          </a:prstGeom>
          <a:solidFill>
            <a:srgbClr val="555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59" y="1536192"/>
            <a:ext cx="3383280" cy="457200"/>
          </a:xfrm>
          <a:prstGeom prst="rect">
            <a:avLst/>
          </a:prstGeom>
          <a:noFill/>
        </p:spPr>
        <p:txBody>
          <a:bodyPr wrap="square" anchor="t" lIns="45720" rIns="45720">
            <a:spAutoFit/>
          </a:bodyPr>
          <a:lstStyle/>
          <a:p>
            <a:pPr algn="l">
              <a:spcAft>
                <a:spcPts val="600"/>
              </a:spcAft>
            </a:pPr>
            <a:r>
              <a:rPr sz="1700" b="1" i="0">
                <a:solidFill>
                  <a:srgbClr val="555B6E"/>
                </a:solidFill>
                <a:latin typeface="Calibri"/>
              </a:rPr>
              <a:t>(A) Traditional AI</a:t>
            </a:r>
          </a:p>
        </p:txBody>
      </p:sp>
      <p:sp>
        <p:nvSpPr>
          <p:cNvPr id="12" name="TextBox 11"/>
          <p:cNvSpPr txBox="1"/>
          <p:nvPr/>
        </p:nvSpPr>
        <p:spPr>
          <a:xfrm>
            <a:off x="8366759" y="1965960"/>
            <a:ext cx="3383280" cy="914400"/>
          </a:xfrm>
          <a:prstGeom prst="rect">
            <a:avLst/>
          </a:prstGeom>
          <a:noFill/>
        </p:spPr>
        <p:txBody>
          <a:bodyPr wrap="square" anchor="t" lIns="45720" rIns="45720">
            <a:spAutoFit/>
          </a:bodyPr>
          <a:lstStyle/>
          <a:p>
            <a:pPr algn="l">
              <a:spcAft>
                <a:spcPts val="600"/>
              </a:spcAft>
            </a:pPr>
            <a:r>
              <a:rPr sz="1400" b="0" i="0">
                <a:solidFill>
                  <a:srgbClr val="555B6E"/>
                </a:solidFill>
                <a:latin typeface="Calibri"/>
              </a:rPr>
              <a:t>AI assists diagnosis only on clinician request; heavy oversight.</a:t>
            </a:r>
          </a:p>
        </p:txBody>
      </p:sp>
      <p:sp>
        <p:nvSpPr>
          <p:cNvPr id="13" name="Rectangle 12"/>
          <p:cNvSpPr/>
          <p:nvPr/>
        </p:nvSpPr>
        <p:spPr>
          <a:xfrm>
            <a:off x="8183879" y="3063240"/>
            <a:ext cx="3657600" cy="14630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83879" y="3063240"/>
            <a:ext cx="82296" cy="1463040"/>
          </a:xfrm>
          <a:prstGeom prst="rect">
            <a:avLst/>
          </a:prstGeom>
          <a:solidFill>
            <a:srgbClr val="2E7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59" y="3136392"/>
            <a:ext cx="3383280" cy="457200"/>
          </a:xfrm>
          <a:prstGeom prst="rect">
            <a:avLst/>
          </a:prstGeom>
          <a:noFill/>
        </p:spPr>
        <p:txBody>
          <a:bodyPr wrap="square" anchor="t" lIns="45720" rIns="45720">
            <a:spAutoFit/>
          </a:bodyPr>
          <a:lstStyle/>
          <a:p>
            <a:pPr algn="l">
              <a:spcAft>
                <a:spcPts val="600"/>
              </a:spcAft>
            </a:pPr>
            <a:r>
              <a:rPr sz="1700" b="1" i="0">
                <a:solidFill>
                  <a:srgbClr val="2E7D9A"/>
                </a:solidFill>
                <a:latin typeface="Calibri"/>
              </a:rPr>
              <a:t>(B) Medical agentic AI</a:t>
            </a:r>
          </a:p>
        </p:txBody>
      </p:sp>
      <p:sp>
        <p:nvSpPr>
          <p:cNvPr id="16" name="TextBox 15"/>
          <p:cNvSpPr txBox="1"/>
          <p:nvPr/>
        </p:nvSpPr>
        <p:spPr>
          <a:xfrm>
            <a:off x="8366759" y="3566160"/>
            <a:ext cx="3383280" cy="914400"/>
          </a:xfrm>
          <a:prstGeom prst="rect">
            <a:avLst/>
          </a:prstGeom>
          <a:noFill/>
        </p:spPr>
        <p:txBody>
          <a:bodyPr wrap="square" anchor="t" lIns="45720" rIns="45720">
            <a:spAutoFit/>
          </a:bodyPr>
          <a:lstStyle/>
          <a:p>
            <a:pPr algn="l">
              <a:spcAft>
                <a:spcPts val="600"/>
              </a:spcAft>
            </a:pPr>
            <a:r>
              <a:rPr sz="1400" b="0" i="0">
                <a:solidFill>
                  <a:srgbClr val="555B6E"/>
                </a:solidFill>
                <a:latin typeface="Calibri"/>
              </a:rPr>
              <a:t>Agents plan, order tests, diagnose, and report; clinician makes final decision.</a:t>
            </a:r>
          </a:p>
        </p:txBody>
      </p:sp>
      <p:sp>
        <p:nvSpPr>
          <p:cNvPr id="17" name="Rectangle 16"/>
          <p:cNvSpPr/>
          <p:nvPr/>
        </p:nvSpPr>
        <p:spPr>
          <a:xfrm>
            <a:off x="8183879" y="4663440"/>
            <a:ext cx="3657600" cy="16916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79" y="4663440"/>
            <a:ext cx="82296" cy="1691640"/>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59" y="4736592"/>
            <a:ext cx="3383280" cy="457200"/>
          </a:xfrm>
          <a:prstGeom prst="rect">
            <a:avLst/>
          </a:prstGeom>
          <a:noFill/>
        </p:spPr>
        <p:txBody>
          <a:bodyPr wrap="square" anchor="t" lIns="45720" rIns="45720">
            <a:spAutoFit/>
          </a:bodyPr>
          <a:lstStyle/>
          <a:p>
            <a:pPr algn="l">
              <a:spcAft>
                <a:spcPts val="600"/>
              </a:spcAft>
            </a:pPr>
            <a:r>
              <a:rPr sz="1700" b="1" i="0">
                <a:solidFill>
                  <a:srgbClr val="C81E2B"/>
                </a:solidFill>
                <a:latin typeface="Calibri"/>
              </a:rPr>
              <a:t>(C) Eye agentic system</a:t>
            </a:r>
          </a:p>
        </p:txBody>
      </p:sp>
      <p:sp>
        <p:nvSpPr>
          <p:cNvPr id="20" name="TextBox 19"/>
          <p:cNvSpPr txBox="1"/>
          <p:nvPr/>
        </p:nvSpPr>
        <p:spPr>
          <a:xfrm>
            <a:off x="8366759" y="5166360"/>
            <a:ext cx="3383280" cy="1143000"/>
          </a:xfrm>
          <a:prstGeom prst="rect">
            <a:avLst/>
          </a:prstGeom>
          <a:noFill/>
        </p:spPr>
        <p:txBody>
          <a:bodyPr wrap="square" anchor="t" lIns="45720" rIns="45720">
            <a:spAutoFit/>
          </a:bodyPr>
          <a:lstStyle/>
          <a:p>
            <a:pPr algn="l">
              <a:spcAft>
                <a:spcPts val="600"/>
              </a:spcAft>
            </a:pPr>
            <a:r>
              <a:rPr sz="1400" b="0" i="0">
                <a:solidFill>
                  <a:srgbClr val="555B6E"/>
                </a:solidFill>
                <a:latin typeface="Calibri"/>
              </a:rPr>
              <a:t>Cataract use case: four specialised agents orchestrate the full consultation.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731520"/>
          </a:xfrm>
          <a:prstGeom prst="rect">
            <a:avLst/>
          </a:prstGeom>
          <a:noFill/>
        </p:spPr>
        <p:txBody>
          <a:bodyPr wrap="square" anchor="ctr" lIns="45720" rIns="45720">
            <a:spAutoFit/>
          </a:bodyPr>
          <a:lstStyle/>
          <a:p>
            <a:pPr algn="l">
              <a:spcAft>
                <a:spcPts val="600"/>
              </a:spcAft>
            </a:pPr>
            <a:r>
              <a:rPr sz="3000" b="1" i="0">
                <a:solidFill>
                  <a:srgbClr val="FFFFFF"/>
                </a:solidFill>
                <a:latin typeface="Calibri"/>
              </a:rPr>
              <a:t>Methodology (A): Traditional AI-Assisted Care Model</a:t>
            </a:r>
          </a:p>
        </p:txBody>
      </p:sp>
      <p:sp>
        <p:nvSpPr>
          <p:cNvPr id="5" name="TextBox 4"/>
          <p:cNvSpPr txBox="1"/>
          <p:nvPr/>
        </p:nvSpPr>
        <p:spPr>
          <a:xfrm>
            <a:off x="457200" y="1024128"/>
            <a:ext cx="11247120" cy="411480"/>
          </a:xfrm>
          <a:prstGeom prst="rect">
            <a:avLst/>
          </a:prstGeom>
          <a:noFill/>
        </p:spPr>
        <p:txBody>
          <a:bodyPr wrap="square" anchor="t" lIns="45720" rIns="45720">
            <a:spAutoFit/>
          </a:bodyPr>
          <a:lstStyle/>
          <a:p>
            <a:pPr algn="l">
              <a:spcAft>
                <a:spcPts val="600"/>
              </a:spcAft>
            </a:pPr>
            <a:r>
              <a:rPr sz="1500" b="0" i="1">
                <a:solidFill>
                  <a:srgbClr val="2E7D9A"/>
                </a:solidFill>
                <a:latin typeface="Calibri"/>
              </a:rPr>
              <a:t>The baseline the paper argues against</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600"/>
              </a:spcAft>
            </a:pPr>
            <a:r>
              <a:rPr sz="1100" b="0" i="0">
                <a:solidFill>
                  <a:srgbClr val="555B6E"/>
                </a:solidFill>
                <a:latin typeface="Calibri"/>
              </a:rPr>
              <a:t>Zou et al., Lancet Digital Health 2026; 8: 100967</a:t>
            </a:r>
          </a:p>
        </p:txBody>
      </p:sp>
      <p:sp>
        <p:nvSpPr>
          <p:cNvPr id="7" name="TextBox 6"/>
          <p:cNvSpPr txBox="1"/>
          <p:nvPr/>
        </p:nvSpPr>
        <p:spPr>
          <a:xfrm>
            <a:off x="10820095" y="6446520"/>
            <a:ext cx="914400" cy="320040"/>
          </a:xfrm>
          <a:prstGeom prst="rect">
            <a:avLst/>
          </a:prstGeom>
          <a:noFill/>
        </p:spPr>
        <p:txBody>
          <a:bodyPr wrap="square" anchor="t" lIns="45720" rIns="45720">
            <a:spAutoFit/>
          </a:bodyPr>
          <a:lstStyle/>
          <a:p>
            <a:pPr algn="r">
              <a:spcAft>
                <a:spcPts val="600"/>
              </a:spcAft>
            </a:pPr>
            <a:r>
              <a:rPr sz="1100" b="0" i="0">
                <a:solidFill>
                  <a:srgbClr val="555B6E"/>
                </a:solidFill>
                <a:latin typeface="Calibri"/>
              </a:rPr>
              <a:t>6 / 15</a:t>
            </a:r>
          </a:p>
        </p:txBody>
      </p:sp>
      <p:pic>
        <p:nvPicPr>
          <p:cNvPr id="8" name="Picture 7" descr="panel_A.png"/>
          <p:cNvPicPr>
            <a:picLocks noChangeAspect="1"/>
          </p:cNvPicPr>
          <p:nvPr/>
        </p:nvPicPr>
        <p:blipFill>
          <a:blip r:embed="rId2"/>
          <a:stretch>
            <a:fillRect/>
          </a:stretch>
        </p:blipFill>
        <p:spPr>
          <a:xfrm>
            <a:off x="365760" y="1584641"/>
            <a:ext cx="11430000" cy="2225677"/>
          </a:xfrm>
          <a:prstGeom prst="rect">
            <a:avLst/>
          </a:prstGeom>
          <a:ln w="12700">
            <a:solidFill>
              <a:srgbClr val="C8CCD6"/>
            </a:solidFill>
          </a:ln>
        </p:spPr>
      </p:pic>
      <p:sp>
        <p:nvSpPr>
          <p:cNvPr id="9" name="Rectangle 8"/>
          <p:cNvSpPr/>
          <p:nvPr/>
        </p:nvSpPr>
        <p:spPr>
          <a:xfrm>
            <a:off x="457200" y="4114800"/>
            <a:ext cx="5486400" cy="21945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4114800"/>
            <a:ext cx="82296" cy="2194560"/>
          </a:xfrm>
          <a:prstGeom prst="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187952"/>
            <a:ext cx="5212080" cy="457200"/>
          </a:xfrm>
          <a:prstGeom prst="rect">
            <a:avLst/>
          </a:prstGeom>
          <a:noFill/>
        </p:spPr>
        <p:txBody>
          <a:bodyPr wrap="square" anchor="t" lIns="45720" rIns="45720">
            <a:spAutoFit/>
          </a:bodyPr>
          <a:lstStyle/>
          <a:p>
            <a:pPr algn="l">
              <a:spcAft>
                <a:spcPts val="600"/>
              </a:spcAft>
            </a:pPr>
            <a:r>
              <a:rPr sz="1700" b="1" i="0">
                <a:solidFill>
                  <a:srgbClr val="1F2A5A"/>
                </a:solidFill>
                <a:latin typeface="Calibri"/>
              </a:rPr>
              <a:t>Workflow</a:t>
            </a:r>
          </a:p>
        </p:txBody>
      </p:sp>
      <p:sp>
        <p:nvSpPr>
          <p:cNvPr id="12" name="TextBox 11"/>
          <p:cNvSpPr txBox="1"/>
          <p:nvPr/>
        </p:nvSpPr>
        <p:spPr>
          <a:xfrm>
            <a:off x="640080" y="4617720"/>
            <a:ext cx="5212080" cy="1645920"/>
          </a:xfrm>
          <a:prstGeom prst="rect">
            <a:avLst/>
          </a:prstGeom>
          <a:noFill/>
        </p:spPr>
        <p:txBody>
          <a:bodyPr wrap="square" anchor="t" lIns="45720" rIns="45720">
            <a:spAutoFit/>
          </a:bodyPr>
          <a:lstStyle/>
          <a:p>
            <a:pPr algn="l">
              <a:spcAft>
                <a:spcPts val="600"/>
              </a:spcAft>
            </a:pPr>
            <a:r>
              <a:rPr sz="1500" b="0" i="0">
                <a:solidFill>
                  <a:srgbClr val="555B6E"/>
                </a:solidFill>
                <a:latin typeface="Calibri"/>
              </a:rPr>
              <a:t>Patient history → clinician orders diagnostic tests → information (history, examinations, records) collected in the EHR → AI model gives a preliminary diagnosis → clinician provides diagnosis &amp; treatment plan.</a:t>
            </a:r>
          </a:p>
        </p:txBody>
      </p:sp>
      <p:sp>
        <p:nvSpPr>
          <p:cNvPr id="13" name="Rectangle 12"/>
          <p:cNvSpPr/>
          <p:nvPr/>
        </p:nvSpPr>
        <p:spPr>
          <a:xfrm>
            <a:off x="6217920" y="4114800"/>
            <a:ext cx="5486400" cy="21945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4114800"/>
            <a:ext cx="82296" cy="2194560"/>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187952"/>
            <a:ext cx="5212080" cy="457200"/>
          </a:xfrm>
          <a:prstGeom prst="rect">
            <a:avLst/>
          </a:prstGeom>
          <a:noFill/>
        </p:spPr>
        <p:txBody>
          <a:bodyPr wrap="square" anchor="t" lIns="45720" rIns="45720">
            <a:spAutoFit/>
          </a:bodyPr>
          <a:lstStyle/>
          <a:p>
            <a:pPr algn="l">
              <a:spcAft>
                <a:spcPts val="600"/>
              </a:spcAft>
            </a:pPr>
            <a:r>
              <a:rPr sz="1700" b="1" i="0">
                <a:solidFill>
                  <a:srgbClr val="C81E2B"/>
                </a:solidFill>
                <a:latin typeface="Calibri"/>
              </a:rPr>
              <a:t>Limitations</a:t>
            </a:r>
          </a:p>
        </p:txBody>
      </p:sp>
      <p:sp>
        <p:nvSpPr>
          <p:cNvPr id="16" name="TextBox 15"/>
          <p:cNvSpPr txBox="1"/>
          <p:nvPr/>
        </p:nvSpPr>
        <p:spPr>
          <a:xfrm>
            <a:off x="6400800" y="4617720"/>
            <a:ext cx="5212080" cy="1645920"/>
          </a:xfrm>
          <a:prstGeom prst="rect">
            <a:avLst/>
          </a:prstGeom>
          <a:noFill/>
        </p:spPr>
        <p:txBody>
          <a:bodyPr wrap="square" anchor="t" lIns="45720" rIns="45720">
            <a:spAutoFit/>
          </a:bodyPr>
          <a:lstStyle/>
          <a:p>
            <a:pPr algn="l">
              <a:spcAft>
                <a:spcPts val="600"/>
              </a:spcAft>
            </a:pPr>
            <a:r>
              <a:rPr sz="1500" b="0" i="0">
                <a:solidFill>
                  <a:srgbClr val="555B6E"/>
                </a:solidFill>
                <a:latin typeface="Calibri"/>
              </a:rPr>
              <a:t>• AI acts only when the clinician requests it
• Limited autonomy, single isolated task
• Requires substantial clinician oversight
• Time consuming for the clinician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731520"/>
          </a:xfrm>
          <a:prstGeom prst="rect">
            <a:avLst/>
          </a:prstGeom>
          <a:noFill/>
        </p:spPr>
        <p:txBody>
          <a:bodyPr wrap="square" anchor="ctr" lIns="45720" rIns="45720">
            <a:spAutoFit/>
          </a:bodyPr>
          <a:lstStyle/>
          <a:p>
            <a:pPr algn="l">
              <a:spcAft>
                <a:spcPts val="600"/>
              </a:spcAft>
            </a:pPr>
            <a:r>
              <a:rPr sz="3000" b="1" i="0">
                <a:solidFill>
                  <a:srgbClr val="FFFFFF"/>
                </a:solidFill>
                <a:latin typeface="Calibri"/>
              </a:rPr>
              <a:t>Methodology (B): Care Model with Medical Agentic AI</a:t>
            </a:r>
          </a:p>
        </p:txBody>
      </p:sp>
      <p:sp>
        <p:nvSpPr>
          <p:cNvPr id="5" name="TextBox 4"/>
          <p:cNvSpPr txBox="1"/>
          <p:nvPr/>
        </p:nvSpPr>
        <p:spPr>
          <a:xfrm>
            <a:off x="457200" y="1024128"/>
            <a:ext cx="11247120" cy="411480"/>
          </a:xfrm>
          <a:prstGeom prst="rect">
            <a:avLst/>
          </a:prstGeom>
          <a:noFill/>
        </p:spPr>
        <p:txBody>
          <a:bodyPr wrap="square" anchor="t" lIns="45720" rIns="45720">
            <a:spAutoFit/>
          </a:bodyPr>
          <a:lstStyle/>
          <a:p>
            <a:pPr algn="l">
              <a:spcAft>
                <a:spcPts val="600"/>
              </a:spcAft>
            </a:pPr>
            <a:r>
              <a:rPr sz="1500" b="0" i="1">
                <a:solidFill>
                  <a:srgbClr val="2E7D9A"/>
                </a:solidFill>
                <a:latin typeface="Calibri"/>
              </a:rPr>
              <a:t>Agents act autonomously along the patient journey; clinician focuses on final decisions</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600"/>
              </a:spcAft>
            </a:pPr>
            <a:r>
              <a:rPr sz="1100" b="0" i="0">
                <a:solidFill>
                  <a:srgbClr val="555B6E"/>
                </a:solidFill>
                <a:latin typeface="Calibri"/>
              </a:rPr>
              <a:t>Zou et al., Lancet Digital Health 2026; 8: 100967</a:t>
            </a:r>
          </a:p>
        </p:txBody>
      </p:sp>
      <p:sp>
        <p:nvSpPr>
          <p:cNvPr id="7" name="TextBox 6"/>
          <p:cNvSpPr txBox="1"/>
          <p:nvPr/>
        </p:nvSpPr>
        <p:spPr>
          <a:xfrm>
            <a:off x="10820095" y="6446520"/>
            <a:ext cx="914400" cy="320040"/>
          </a:xfrm>
          <a:prstGeom prst="rect">
            <a:avLst/>
          </a:prstGeom>
          <a:noFill/>
        </p:spPr>
        <p:txBody>
          <a:bodyPr wrap="square" anchor="t" lIns="45720" rIns="45720">
            <a:spAutoFit/>
          </a:bodyPr>
          <a:lstStyle/>
          <a:p>
            <a:pPr algn="r">
              <a:spcAft>
                <a:spcPts val="600"/>
              </a:spcAft>
            </a:pPr>
            <a:r>
              <a:rPr sz="1100" b="0" i="0">
                <a:solidFill>
                  <a:srgbClr val="555B6E"/>
                </a:solidFill>
                <a:latin typeface="Calibri"/>
              </a:rPr>
              <a:t>7 / 15</a:t>
            </a:r>
          </a:p>
        </p:txBody>
      </p:sp>
      <p:pic>
        <p:nvPicPr>
          <p:cNvPr id="8" name="Picture 7" descr="panel_B.png"/>
          <p:cNvPicPr>
            <a:picLocks noChangeAspect="1"/>
          </p:cNvPicPr>
          <p:nvPr/>
        </p:nvPicPr>
        <p:blipFill>
          <a:blip r:embed="rId2"/>
          <a:stretch>
            <a:fillRect/>
          </a:stretch>
        </p:blipFill>
        <p:spPr>
          <a:xfrm>
            <a:off x="1362799" y="1508760"/>
            <a:ext cx="9435921" cy="2743200"/>
          </a:xfrm>
          <a:prstGeom prst="rect">
            <a:avLst/>
          </a:prstGeom>
          <a:ln w="12700">
            <a:solidFill>
              <a:srgbClr val="C8CCD6"/>
            </a:solidFill>
          </a:ln>
        </p:spPr>
      </p:pic>
      <p:sp>
        <p:nvSpPr>
          <p:cNvPr id="9" name="Rounded Rectangle 8"/>
          <p:cNvSpPr/>
          <p:nvPr/>
        </p:nvSpPr>
        <p:spPr>
          <a:xfrm>
            <a:off x="548640" y="4480560"/>
            <a:ext cx="2468880" cy="640080"/>
          </a:xfrm>
          <a:prstGeom prst="round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4480560"/>
            <a:ext cx="2468880" cy="640080"/>
          </a:xfrm>
          <a:prstGeom prst="rect">
            <a:avLst/>
          </a:prstGeom>
          <a:noFill/>
        </p:spPr>
        <p:txBody>
          <a:bodyPr wrap="square" anchor="ctr" lIns="45720" rIns="45720">
            <a:spAutoFit/>
          </a:bodyPr>
          <a:lstStyle/>
          <a:p>
            <a:pPr algn="ctr">
              <a:spcAft>
                <a:spcPts val="600"/>
              </a:spcAft>
            </a:pPr>
            <a:r>
              <a:rPr sz="1600" b="1" i="0">
                <a:solidFill>
                  <a:srgbClr val="FFFFFF"/>
                </a:solidFill>
                <a:latin typeface="Calibri"/>
              </a:rPr>
              <a:t>1. Devise clinical plan</a:t>
            </a:r>
          </a:p>
        </p:txBody>
      </p:sp>
      <p:sp>
        <p:nvSpPr>
          <p:cNvPr id="11" name="Right Arrow 10"/>
          <p:cNvSpPr/>
          <p:nvPr/>
        </p:nvSpPr>
        <p:spPr>
          <a:xfrm>
            <a:off x="3072384" y="4636008"/>
            <a:ext cx="274320" cy="329184"/>
          </a:xfrm>
          <a:prstGeom prst="rightArrow">
            <a:avLst/>
          </a:prstGeom>
          <a:solidFill>
            <a:srgbClr val="555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01568" y="4480560"/>
            <a:ext cx="2468880" cy="640080"/>
          </a:xfrm>
          <a:prstGeom prst="roundRect">
            <a:avLst/>
          </a:prstGeom>
          <a:solidFill>
            <a:srgbClr val="2E7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01568" y="4480560"/>
            <a:ext cx="2468880" cy="640080"/>
          </a:xfrm>
          <a:prstGeom prst="rect">
            <a:avLst/>
          </a:prstGeom>
          <a:noFill/>
        </p:spPr>
        <p:txBody>
          <a:bodyPr wrap="square" anchor="ctr" lIns="45720" rIns="45720">
            <a:spAutoFit/>
          </a:bodyPr>
          <a:lstStyle/>
          <a:p>
            <a:pPr algn="ctr">
              <a:spcAft>
                <a:spcPts val="600"/>
              </a:spcAft>
            </a:pPr>
            <a:r>
              <a:rPr sz="1600" b="1" i="0">
                <a:solidFill>
                  <a:srgbClr val="FFFFFF"/>
                </a:solidFill>
                <a:latin typeface="Calibri"/>
              </a:rPr>
              <a:t>2. Order tests</a:t>
            </a:r>
          </a:p>
        </p:txBody>
      </p:sp>
      <p:sp>
        <p:nvSpPr>
          <p:cNvPr id="14" name="Right Arrow 13"/>
          <p:cNvSpPr/>
          <p:nvPr/>
        </p:nvSpPr>
        <p:spPr>
          <a:xfrm>
            <a:off x="5925312" y="4636008"/>
            <a:ext cx="274320" cy="329184"/>
          </a:xfrm>
          <a:prstGeom prst="rightArrow">
            <a:avLst/>
          </a:prstGeom>
          <a:solidFill>
            <a:srgbClr val="555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54496" y="4480560"/>
            <a:ext cx="2468880" cy="640080"/>
          </a:xfrm>
          <a:prstGeom prst="roundRect">
            <a:avLst/>
          </a:prstGeom>
          <a:solidFill>
            <a:srgbClr val="4C9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54496" y="4480560"/>
            <a:ext cx="2468880" cy="640080"/>
          </a:xfrm>
          <a:prstGeom prst="rect">
            <a:avLst/>
          </a:prstGeom>
          <a:noFill/>
        </p:spPr>
        <p:txBody>
          <a:bodyPr wrap="square" anchor="ctr" lIns="45720" rIns="45720">
            <a:spAutoFit/>
          </a:bodyPr>
          <a:lstStyle/>
          <a:p>
            <a:pPr algn="ctr">
              <a:spcAft>
                <a:spcPts val="600"/>
              </a:spcAft>
            </a:pPr>
            <a:r>
              <a:rPr sz="1600" b="1" i="0">
                <a:solidFill>
                  <a:srgbClr val="FFFFFF"/>
                </a:solidFill>
                <a:latin typeface="Calibri"/>
              </a:rPr>
              <a:t>3. Preliminary diagnosis</a:t>
            </a:r>
          </a:p>
        </p:txBody>
      </p:sp>
      <p:sp>
        <p:nvSpPr>
          <p:cNvPr id="17" name="Right Arrow 16"/>
          <p:cNvSpPr/>
          <p:nvPr/>
        </p:nvSpPr>
        <p:spPr>
          <a:xfrm>
            <a:off x="8778240" y="4636008"/>
            <a:ext cx="274320" cy="329184"/>
          </a:xfrm>
          <a:prstGeom prst="rightArrow">
            <a:avLst/>
          </a:prstGeom>
          <a:solidFill>
            <a:srgbClr val="555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07424" y="4480560"/>
            <a:ext cx="2468880" cy="640080"/>
          </a:xfrm>
          <a:prstGeom prst="round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07424" y="4480560"/>
            <a:ext cx="2468880" cy="640080"/>
          </a:xfrm>
          <a:prstGeom prst="rect">
            <a:avLst/>
          </a:prstGeom>
          <a:noFill/>
        </p:spPr>
        <p:txBody>
          <a:bodyPr wrap="square" anchor="ctr" lIns="45720" rIns="45720">
            <a:spAutoFit/>
          </a:bodyPr>
          <a:lstStyle/>
          <a:p>
            <a:pPr algn="ctr">
              <a:spcAft>
                <a:spcPts val="600"/>
              </a:spcAft>
            </a:pPr>
            <a:r>
              <a:rPr sz="1600" b="1" i="0">
                <a:solidFill>
                  <a:srgbClr val="FFFFFF"/>
                </a:solidFill>
                <a:latin typeface="Calibri"/>
              </a:rPr>
              <a:t>4. Generate reports</a:t>
            </a:r>
          </a:p>
        </p:txBody>
      </p:sp>
      <p:sp>
        <p:nvSpPr>
          <p:cNvPr id="20" name="TextBox 19"/>
          <p:cNvSpPr txBox="1"/>
          <p:nvPr/>
        </p:nvSpPr>
        <p:spPr>
          <a:xfrm>
            <a:off x="548640" y="5349240"/>
            <a:ext cx="11155680" cy="1097280"/>
          </a:xfrm>
          <a:prstGeom prst="rect">
            <a:avLst/>
          </a:prstGeom>
          <a:noFill/>
        </p:spPr>
        <p:txBody>
          <a:bodyPr wrap="square">
            <a:spAutoFit/>
          </a:bodyPr>
          <a:lstStyle/>
          <a:p>
            <a:pPr>
              <a:spcAft>
                <a:spcPts val="800"/>
              </a:spcAft>
            </a:pPr>
            <a:r>
              <a:rPr sz="1500">
                <a:solidFill>
                  <a:srgbClr val="555B6E"/>
                </a:solidFill>
                <a:latin typeface="Calibri"/>
              </a:rPr>
              <a:t>■  Multi-agent system takes the patient history, then handles test ordering, treatment planning, report drafting and preliminary interpretation</a:t>
            </a:r>
          </a:p>
          <a:p>
            <a:pPr>
              <a:spcAft>
                <a:spcPts val="800"/>
              </a:spcAft>
            </a:pPr>
            <a:r>
              <a:rPr sz="1500">
                <a:solidFill>
                  <a:srgbClr val="555B6E"/>
                </a:solidFill>
                <a:latin typeface="Calibri"/>
              </a:rPr>
              <a:t>■  Routine / cognitively demanding work (history taking, note summarisation) is offloaded, which reduces workload and improves efficiency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731520"/>
          </a:xfrm>
          <a:prstGeom prst="rect">
            <a:avLst/>
          </a:prstGeom>
          <a:noFill/>
        </p:spPr>
        <p:txBody>
          <a:bodyPr wrap="square" anchor="ctr" lIns="45720" rIns="45720">
            <a:spAutoFit/>
          </a:bodyPr>
          <a:lstStyle/>
          <a:p>
            <a:pPr algn="l">
              <a:spcAft>
                <a:spcPts val="600"/>
              </a:spcAft>
            </a:pPr>
            <a:r>
              <a:rPr sz="3000" b="1" i="0">
                <a:solidFill>
                  <a:srgbClr val="FFFFFF"/>
                </a:solidFill>
                <a:latin typeface="Calibri"/>
              </a:rPr>
              <a:t>Why Ophthalmology Is a Good Fit for Agentic AI</a:t>
            </a:r>
          </a:p>
        </p:txBody>
      </p:sp>
      <p:sp>
        <p:nvSpPr>
          <p:cNvPr id="5" name="TextBox 4"/>
          <p:cNvSpPr txBox="1"/>
          <p:nvPr/>
        </p:nvSpPr>
        <p:spPr>
          <a:xfrm>
            <a:off x="457200" y="6446520"/>
            <a:ext cx="8229600" cy="320040"/>
          </a:xfrm>
          <a:prstGeom prst="rect">
            <a:avLst/>
          </a:prstGeom>
          <a:noFill/>
        </p:spPr>
        <p:txBody>
          <a:bodyPr wrap="square" anchor="t" lIns="45720" rIns="45720">
            <a:spAutoFit/>
          </a:bodyPr>
          <a:lstStyle/>
          <a:p>
            <a:pPr algn="l">
              <a:spcAft>
                <a:spcPts val="600"/>
              </a:spcAft>
            </a:pPr>
            <a:r>
              <a:rPr sz="1100" b="0" i="0">
                <a:solidFill>
                  <a:srgbClr val="555B6E"/>
                </a:solidFill>
                <a:latin typeface="Calibri"/>
              </a:rPr>
              <a:t>Zou et al., Lancet Digital Health 2026; 8: 100967</a:t>
            </a:r>
          </a:p>
        </p:txBody>
      </p:sp>
      <p:sp>
        <p:nvSpPr>
          <p:cNvPr id="6" name="TextBox 5"/>
          <p:cNvSpPr txBox="1"/>
          <p:nvPr/>
        </p:nvSpPr>
        <p:spPr>
          <a:xfrm>
            <a:off x="10820095" y="6446520"/>
            <a:ext cx="914400" cy="320040"/>
          </a:xfrm>
          <a:prstGeom prst="rect">
            <a:avLst/>
          </a:prstGeom>
          <a:noFill/>
        </p:spPr>
        <p:txBody>
          <a:bodyPr wrap="square" anchor="t" lIns="45720" rIns="45720">
            <a:spAutoFit/>
          </a:bodyPr>
          <a:lstStyle/>
          <a:p>
            <a:pPr algn="r">
              <a:spcAft>
                <a:spcPts val="600"/>
              </a:spcAft>
            </a:pPr>
            <a:r>
              <a:rPr sz="1100" b="0" i="0">
                <a:solidFill>
                  <a:srgbClr val="555B6E"/>
                </a:solidFill>
                <a:latin typeface="Calibri"/>
              </a:rPr>
              <a:t>8 / 15</a:t>
            </a:r>
          </a:p>
        </p:txBody>
      </p:sp>
      <p:sp>
        <p:nvSpPr>
          <p:cNvPr id="7" name="Rectangle 6"/>
          <p:cNvSpPr/>
          <p:nvPr/>
        </p:nvSpPr>
        <p:spPr>
          <a:xfrm>
            <a:off x="457200" y="1371600"/>
            <a:ext cx="3611880" cy="21945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82296" cy="2194560"/>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44752"/>
            <a:ext cx="3337560" cy="457200"/>
          </a:xfrm>
          <a:prstGeom prst="rect">
            <a:avLst/>
          </a:prstGeom>
          <a:noFill/>
        </p:spPr>
        <p:txBody>
          <a:bodyPr wrap="square" anchor="t" lIns="45720" rIns="45720">
            <a:spAutoFit/>
          </a:bodyPr>
          <a:lstStyle/>
          <a:p>
            <a:pPr algn="l">
              <a:spcAft>
                <a:spcPts val="600"/>
              </a:spcAft>
            </a:pPr>
            <a:r>
              <a:rPr sz="1900" b="1" i="0">
                <a:solidFill>
                  <a:srgbClr val="C81E2B"/>
                </a:solidFill>
                <a:latin typeface="Calibri"/>
              </a:rPr>
              <a:t>Workforce shortage</a:t>
            </a:r>
          </a:p>
        </p:txBody>
      </p:sp>
      <p:sp>
        <p:nvSpPr>
          <p:cNvPr id="10" name="TextBox 9"/>
          <p:cNvSpPr txBox="1"/>
          <p:nvPr/>
        </p:nvSpPr>
        <p:spPr>
          <a:xfrm>
            <a:off x="640080" y="1874520"/>
            <a:ext cx="3337560" cy="1645920"/>
          </a:xfrm>
          <a:prstGeom prst="rect">
            <a:avLst/>
          </a:prstGeom>
          <a:noFill/>
        </p:spPr>
        <p:txBody>
          <a:bodyPr wrap="square" anchor="t" lIns="45720" rIns="45720">
            <a:spAutoFit/>
          </a:bodyPr>
          <a:lstStyle/>
          <a:p>
            <a:pPr algn="l">
              <a:spcAft>
                <a:spcPts val="600"/>
              </a:spcAft>
            </a:pPr>
            <a:r>
              <a:rPr sz="1600" b="0" i="0">
                <a:solidFill>
                  <a:srgbClr val="555B6E"/>
                </a:solidFill>
                <a:latin typeface="Calibri"/>
              </a:rPr>
              <a:t>Global shortage of ophthalmologists vs. growing service demand.</a:t>
            </a:r>
          </a:p>
        </p:txBody>
      </p:sp>
      <p:sp>
        <p:nvSpPr>
          <p:cNvPr id="11" name="Rectangle 10"/>
          <p:cNvSpPr/>
          <p:nvPr/>
        </p:nvSpPr>
        <p:spPr>
          <a:xfrm>
            <a:off x="4251960" y="1371600"/>
            <a:ext cx="3611880" cy="21945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1960" y="1371600"/>
            <a:ext cx="82296" cy="2194560"/>
          </a:xfrm>
          <a:prstGeom prst="rect">
            <a:avLst/>
          </a:prstGeom>
          <a:solidFill>
            <a:srgbClr val="F0A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444752"/>
            <a:ext cx="3337560" cy="457200"/>
          </a:xfrm>
          <a:prstGeom prst="rect">
            <a:avLst/>
          </a:prstGeom>
          <a:noFill/>
        </p:spPr>
        <p:txBody>
          <a:bodyPr wrap="square" anchor="t" lIns="45720" rIns="45720">
            <a:spAutoFit/>
          </a:bodyPr>
          <a:lstStyle/>
          <a:p>
            <a:pPr algn="l">
              <a:spcAft>
                <a:spcPts val="600"/>
              </a:spcAft>
            </a:pPr>
            <a:r>
              <a:rPr sz="1900" b="1" i="0">
                <a:solidFill>
                  <a:srgbClr val="F0A21C"/>
                </a:solidFill>
                <a:latin typeface="Calibri"/>
              </a:rPr>
              <a:t>Rising complexity</a:t>
            </a:r>
          </a:p>
        </p:txBody>
      </p:sp>
      <p:sp>
        <p:nvSpPr>
          <p:cNvPr id="14" name="TextBox 13"/>
          <p:cNvSpPr txBox="1"/>
          <p:nvPr/>
        </p:nvSpPr>
        <p:spPr>
          <a:xfrm>
            <a:off x="4434840" y="1874520"/>
            <a:ext cx="3337560" cy="1645920"/>
          </a:xfrm>
          <a:prstGeom prst="rect">
            <a:avLst/>
          </a:prstGeom>
          <a:noFill/>
        </p:spPr>
        <p:txBody>
          <a:bodyPr wrap="square" anchor="t" lIns="45720" rIns="45720">
            <a:spAutoFit/>
          </a:bodyPr>
          <a:lstStyle/>
          <a:p>
            <a:pPr algn="l">
              <a:spcAft>
                <a:spcPts val="600"/>
              </a:spcAft>
            </a:pPr>
            <a:r>
              <a:rPr sz="1600" b="0" i="0">
                <a:solidFill>
                  <a:srgbClr val="555B6E"/>
                </a:solidFill>
                <a:latin typeface="Calibri"/>
              </a:rPr>
              <a:t>Ageing populations and comorbid conditions demand personalised, comprehensive care.</a:t>
            </a:r>
          </a:p>
        </p:txBody>
      </p:sp>
      <p:sp>
        <p:nvSpPr>
          <p:cNvPr id="15" name="Rectangle 14"/>
          <p:cNvSpPr/>
          <p:nvPr/>
        </p:nvSpPr>
        <p:spPr>
          <a:xfrm>
            <a:off x="8046720" y="1371600"/>
            <a:ext cx="3611880" cy="21945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371600"/>
            <a:ext cx="82296" cy="2194560"/>
          </a:xfrm>
          <a:prstGeom prst="rect">
            <a:avLst/>
          </a:prstGeom>
          <a:solidFill>
            <a:srgbClr val="2E7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1444752"/>
            <a:ext cx="3337560" cy="457200"/>
          </a:xfrm>
          <a:prstGeom prst="rect">
            <a:avLst/>
          </a:prstGeom>
          <a:noFill/>
        </p:spPr>
        <p:txBody>
          <a:bodyPr wrap="square" anchor="t" lIns="45720" rIns="45720">
            <a:spAutoFit/>
          </a:bodyPr>
          <a:lstStyle/>
          <a:p>
            <a:pPr algn="l">
              <a:spcAft>
                <a:spcPts val="600"/>
              </a:spcAft>
            </a:pPr>
            <a:r>
              <a:rPr sz="1900" b="1" i="0">
                <a:solidFill>
                  <a:srgbClr val="2E7D9A"/>
                </a:solidFill>
                <a:latin typeface="Calibri"/>
              </a:rPr>
              <a:t>Multimodal data</a:t>
            </a:r>
          </a:p>
        </p:txBody>
      </p:sp>
      <p:sp>
        <p:nvSpPr>
          <p:cNvPr id="18" name="TextBox 17"/>
          <p:cNvSpPr txBox="1"/>
          <p:nvPr/>
        </p:nvSpPr>
        <p:spPr>
          <a:xfrm>
            <a:off x="8229600" y="1874520"/>
            <a:ext cx="3337560" cy="1645920"/>
          </a:xfrm>
          <a:prstGeom prst="rect">
            <a:avLst/>
          </a:prstGeom>
          <a:noFill/>
        </p:spPr>
        <p:txBody>
          <a:bodyPr wrap="square" anchor="t" lIns="45720" rIns="45720">
            <a:spAutoFit/>
          </a:bodyPr>
          <a:lstStyle/>
          <a:p>
            <a:pPr algn="l">
              <a:spcAft>
                <a:spcPts val="600"/>
              </a:spcAft>
            </a:pPr>
            <a:r>
              <a:rPr sz="1600" b="0" i="0">
                <a:solidFill>
                  <a:srgbClr val="555B6E"/>
                </a:solidFill>
                <a:latin typeface="Calibri"/>
              </a:rPr>
              <a:t>Rich imaging (fundus, slit-lamp, OCT) + clinical measurements — suited to VLMs + LLMs.</a:t>
            </a:r>
          </a:p>
        </p:txBody>
      </p:sp>
      <p:sp>
        <p:nvSpPr>
          <p:cNvPr id="19" name="Rectangle 18"/>
          <p:cNvSpPr/>
          <p:nvPr/>
        </p:nvSpPr>
        <p:spPr>
          <a:xfrm>
            <a:off x="457200" y="3794760"/>
            <a:ext cx="3611880" cy="21945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794760"/>
            <a:ext cx="82296" cy="2194560"/>
          </a:xfrm>
          <a:prstGeom prst="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867912"/>
            <a:ext cx="3337560" cy="457200"/>
          </a:xfrm>
          <a:prstGeom prst="rect">
            <a:avLst/>
          </a:prstGeom>
          <a:noFill/>
        </p:spPr>
        <p:txBody>
          <a:bodyPr wrap="square" anchor="t" lIns="45720" rIns="45720">
            <a:spAutoFit/>
          </a:bodyPr>
          <a:lstStyle/>
          <a:p>
            <a:pPr algn="l">
              <a:spcAft>
                <a:spcPts val="600"/>
              </a:spcAft>
            </a:pPr>
            <a:r>
              <a:rPr sz="1900" b="1" i="0">
                <a:solidFill>
                  <a:srgbClr val="1F2A5A"/>
                </a:solidFill>
                <a:latin typeface="Calibri"/>
              </a:rPr>
              <a:t>Protocol-driven</a:t>
            </a:r>
          </a:p>
        </p:txBody>
      </p:sp>
      <p:sp>
        <p:nvSpPr>
          <p:cNvPr id="22" name="TextBox 21"/>
          <p:cNvSpPr txBox="1"/>
          <p:nvPr/>
        </p:nvSpPr>
        <p:spPr>
          <a:xfrm>
            <a:off x="640080" y="4297680"/>
            <a:ext cx="3337560" cy="1645920"/>
          </a:xfrm>
          <a:prstGeom prst="rect">
            <a:avLst/>
          </a:prstGeom>
          <a:noFill/>
        </p:spPr>
        <p:txBody>
          <a:bodyPr wrap="square" anchor="t" lIns="45720" rIns="45720">
            <a:spAutoFit/>
          </a:bodyPr>
          <a:lstStyle/>
          <a:p>
            <a:pPr algn="l">
              <a:spcAft>
                <a:spcPts val="600"/>
              </a:spcAft>
            </a:pPr>
            <a:r>
              <a:rPr sz="1600" b="0" i="0">
                <a:solidFill>
                  <a:srgbClr val="555B6E"/>
                </a:solidFill>
                <a:latin typeface="Calibri"/>
              </a:rPr>
              <a:t>Standardised exam sequences (VA, IOP, refraction, dilation) map naturally onto agent tasks.</a:t>
            </a:r>
          </a:p>
        </p:txBody>
      </p:sp>
      <p:sp>
        <p:nvSpPr>
          <p:cNvPr id="23" name="Rectangle 22"/>
          <p:cNvSpPr/>
          <p:nvPr/>
        </p:nvSpPr>
        <p:spPr>
          <a:xfrm>
            <a:off x="4251960" y="3794760"/>
            <a:ext cx="3611880" cy="21945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51960" y="3794760"/>
            <a:ext cx="82296" cy="2194560"/>
          </a:xfrm>
          <a:prstGeom prst="rect">
            <a:avLst/>
          </a:prstGeom>
          <a:solidFill>
            <a:srgbClr val="4C9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4840" y="3867912"/>
            <a:ext cx="3337560" cy="457200"/>
          </a:xfrm>
          <a:prstGeom prst="rect">
            <a:avLst/>
          </a:prstGeom>
          <a:noFill/>
        </p:spPr>
        <p:txBody>
          <a:bodyPr wrap="square" anchor="t" lIns="45720" rIns="45720">
            <a:spAutoFit/>
          </a:bodyPr>
          <a:lstStyle/>
          <a:p>
            <a:pPr algn="l">
              <a:spcAft>
                <a:spcPts val="600"/>
              </a:spcAft>
            </a:pPr>
            <a:r>
              <a:rPr sz="1900" b="1" i="0">
                <a:solidFill>
                  <a:srgbClr val="4C9A4A"/>
                </a:solidFill>
                <a:latin typeface="Calibri"/>
              </a:rPr>
              <a:t>Bridging specialties</a:t>
            </a:r>
          </a:p>
        </p:txBody>
      </p:sp>
      <p:sp>
        <p:nvSpPr>
          <p:cNvPr id="26" name="TextBox 25"/>
          <p:cNvSpPr txBox="1"/>
          <p:nvPr/>
        </p:nvSpPr>
        <p:spPr>
          <a:xfrm>
            <a:off x="4434840" y="4297680"/>
            <a:ext cx="3337560" cy="1645920"/>
          </a:xfrm>
          <a:prstGeom prst="rect">
            <a:avLst/>
          </a:prstGeom>
          <a:noFill/>
        </p:spPr>
        <p:txBody>
          <a:bodyPr wrap="square" anchor="t" lIns="45720" rIns="45720">
            <a:spAutoFit/>
          </a:bodyPr>
          <a:lstStyle/>
          <a:p>
            <a:pPr algn="l">
              <a:spcAft>
                <a:spcPts val="600"/>
              </a:spcAft>
            </a:pPr>
            <a:r>
              <a:rPr sz="1600" b="0" i="0">
                <a:solidFill>
                  <a:srgbClr val="555B6E"/>
                </a:solidFill>
                <a:latin typeface="Calibri"/>
              </a:rPr>
              <a:t>An eye-specific agent with ophthalmic + systemic knowledge can bridge subspecialty gaps.</a:t>
            </a:r>
          </a:p>
        </p:txBody>
      </p:sp>
      <p:sp>
        <p:nvSpPr>
          <p:cNvPr id="27" name="Rectangle 26"/>
          <p:cNvSpPr/>
          <p:nvPr/>
        </p:nvSpPr>
        <p:spPr>
          <a:xfrm>
            <a:off x="8046720" y="3794760"/>
            <a:ext cx="3611880" cy="21945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46720" y="3794760"/>
            <a:ext cx="82296" cy="2194560"/>
          </a:xfrm>
          <a:prstGeom prst="rect">
            <a:avLst/>
          </a:prstGeom>
          <a:solidFill>
            <a:srgbClr val="555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0" y="3867912"/>
            <a:ext cx="3337560" cy="457200"/>
          </a:xfrm>
          <a:prstGeom prst="rect">
            <a:avLst/>
          </a:prstGeom>
          <a:noFill/>
        </p:spPr>
        <p:txBody>
          <a:bodyPr wrap="square" anchor="t" lIns="45720" rIns="45720">
            <a:spAutoFit/>
          </a:bodyPr>
          <a:lstStyle/>
          <a:p>
            <a:pPr algn="l">
              <a:spcAft>
                <a:spcPts val="600"/>
              </a:spcAft>
            </a:pPr>
            <a:r>
              <a:rPr sz="1900" b="1" i="0">
                <a:solidFill>
                  <a:srgbClr val="555B6E"/>
                </a:solidFill>
                <a:latin typeface="Calibri"/>
              </a:rPr>
              <a:t>Resource optimisation</a:t>
            </a:r>
          </a:p>
        </p:txBody>
      </p:sp>
      <p:sp>
        <p:nvSpPr>
          <p:cNvPr id="30" name="TextBox 29"/>
          <p:cNvSpPr txBox="1"/>
          <p:nvPr/>
        </p:nvSpPr>
        <p:spPr>
          <a:xfrm>
            <a:off x="8229600" y="4297680"/>
            <a:ext cx="3337560" cy="1645920"/>
          </a:xfrm>
          <a:prstGeom prst="rect">
            <a:avLst/>
          </a:prstGeom>
          <a:noFill/>
        </p:spPr>
        <p:txBody>
          <a:bodyPr wrap="square" anchor="t" lIns="45720" rIns="45720">
            <a:spAutoFit/>
          </a:bodyPr>
          <a:lstStyle/>
          <a:p>
            <a:pPr algn="l">
              <a:spcAft>
                <a:spcPts val="600"/>
              </a:spcAft>
            </a:pPr>
            <a:r>
              <a:rPr sz="1600" b="0" i="0">
                <a:solidFill>
                  <a:srgbClr val="555B6E"/>
                </a:solidFill>
                <a:latin typeface="Calibri"/>
              </a:rPr>
              <a:t>Pre-completes consultation steps before the clinician's final review.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731520"/>
          </a:xfrm>
          <a:prstGeom prst="rect">
            <a:avLst/>
          </a:prstGeom>
          <a:noFill/>
        </p:spPr>
        <p:txBody>
          <a:bodyPr wrap="square" anchor="ctr" lIns="45720" rIns="45720">
            <a:spAutoFit/>
          </a:bodyPr>
          <a:lstStyle/>
          <a:p>
            <a:pPr algn="l">
              <a:spcAft>
                <a:spcPts val="600"/>
              </a:spcAft>
            </a:pPr>
            <a:r>
              <a:rPr sz="3000" b="1" i="0">
                <a:solidFill>
                  <a:srgbClr val="FFFFFF"/>
                </a:solidFill>
                <a:latin typeface="Calibri"/>
              </a:rPr>
              <a:t>Methodology (C): Eye Agentic AI System for Cataract</a:t>
            </a:r>
          </a:p>
        </p:txBody>
      </p:sp>
      <p:sp>
        <p:nvSpPr>
          <p:cNvPr id="5" name="TextBox 4"/>
          <p:cNvSpPr txBox="1"/>
          <p:nvPr/>
        </p:nvSpPr>
        <p:spPr>
          <a:xfrm>
            <a:off x="457200" y="1024128"/>
            <a:ext cx="11247120" cy="411480"/>
          </a:xfrm>
          <a:prstGeom prst="rect">
            <a:avLst/>
          </a:prstGeom>
          <a:noFill/>
        </p:spPr>
        <p:txBody>
          <a:bodyPr wrap="square" anchor="t" lIns="45720" rIns="45720">
            <a:spAutoFit/>
          </a:bodyPr>
          <a:lstStyle/>
          <a:p>
            <a:pPr algn="l">
              <a:spcAft>
                <a:spcPts val="600"/>
              </a:spcAft>
            </a:pPr>
            <a:r>
              <a:rPr sz="1500" b="0" i="1">
                <a:solidFill>
                  <a:srgbClr val="2E7D9A"/>
                </a:solidFill>
                <a:latin typeface="Calibri"/>
              </a:rPr>
              <a:t>Use case: patient needs → four collaborating agents → ophthalmologist</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600"/>
              </a:spcAft>
            </a:pPr>
            <a:r>
              <a:rPr sz="1100" b="0" i="0">
                <a:solidFill>
                  <a:srgbClr val="555B6E"/>
                </a:solidFill>
                <a:latin typeface="Calibri"/>
              </a:rPr>
              <a:t>Zou et al., Lancet Digital Health 2026; 8: 100967</a:t>
            </a:r>
          </a:p>
        </p:txBody>
      </p:sp>
      <p:sp>
        <p:nvSpPr>
          <p:cNvPr id="7" name="TextBox 6"/>
          <p:cNvSpPr txBox="1"/>
          <p:nvPr/>
        </p:nvSpPr>
        <p:spPr>
          <a:xfrm>
            <a:off x="10820095" y="6446520"/>
            <a:ext cx="914400" cy="320040"/>
          </a:xfrm>
          <a:prstGeom prst="rect">
            <a:avLst/>
          </a:prstGeom>
          <a:noFill/>
        </p:spPr>
        <p:txBody>
          <a:bodyPr wrap="square" anchor="t" lIns="45720" rIns="45720">
            <a:spAutoFit/>
          </a:bodyPr>
          <a:lstStyle/>
          <a:p>
            <a:pPr algn="r">
              <a:spcAft>
                <a:spcPts val="600"/>
              </a:spcAft>
            </a:pPr>
            <a:r>
              <a:rPr sz="1100" b="0" i="0">
                <a:solidFill>
                  <a:srgbClr val="555B6E"/>
                </a:solidFill>
                <a:latin typeface="Calibri"/>
              </a:rPr>
              <a:t>9 / 15</a:t>
            </a:r>
          </a:p>
        </p:txBody>
      </p:sp>
      <p:pic>
        <p:nvPicPr>
          <p:cNvPr id="8" name="Picture 7" descr="panel_C.png"/>
          <p:cNvPicPr>
            <a:picLocks noChangeAspect="1"/>
          </p:cNvPicPr>
          <p:nvPr/>
        </p:nvPicPr>
        <p:blipFill>
          <a:blip r:embed="rId2"/>
          <a:stretch>
            <a:fillRect/>
          </a:stretch>
        </p:blipFill>
        <p:spPr>
          <a:xfrm>
            <a:off x="274320" y="1535323"/>
            <a:ext cx="11612880" cy="3238714"/>
          </a:xfrm>
          <a:prstGeom prst="rect">
            <a:avLst/>
          </a:prstGeom>
          <a:ln w="12700">
            <a:solidFill>
              <a:srgbClr val="C8CCD6"/>
            </a:solidFill>
          </a:ln>
        </p:spPr>
      </p:pic>
      <p:sp>
        <p:nvSpPr>
          <p:cNvPr id="9" name="Rectangle 8"/>
          <p:cNvSpPr/>
          <p:nvPr/>
        </p:nvSpPr>
        <p:spPr>
          <a:xfrm>
            <a:off x="457200" y="4983480"/>
            <a:ext cx="3566160" cy="13716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4983480"/>
            <a:ext cx="82296" cy="1371600"/>
          </a:xfrm>
          <a:prstGeom prst="rect">
            <a:avLst/>
          </a:prstGeom>
          <a:solidFill>
            <a:srgbClr val="F0A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056632"/>
            <a:ext cx="3291840" cy="457200"/>
          </a:xfrm>
          <a:prstGeom prst="rect">
            <a:avLst/>
          </a:prstGeom>
          <a:noFill/>
        </p:spPr>
        <p:txBody>
          <a:bodyPr wrap="square" anchor="t" lIns="45720" rIns="45720">
            <a:spAutoFit/>
          </a:bodyPr>
          <a:lstStyle/>
          <a:p>
            <a:pPr algn="l">
              <a:spcAft>
                <a:spcPts val="600"/>
              </a:spcAft>
            </a:pPr>
            <a:r>
              <a:rPr sz="1700" b="1" i="0">
                <a:solidFill>
                  <a:srgbClr val="F0A21C"/>
                </a:solidFill>
                <a:latin typeface="Calibri"/>
              </a:rPr>
              <a:t>Input: patient's needs</a:t>
            </a:r>
          </a:p>
        </p:txBody>
      </p:sp>
      <p:sp>
        <p:nvSpPr>
          <p:cNvPr id="12" name="TextBox 11"/>
          <p:cNvSpPr txBox="1"/>
          <p:nvPr/>
        </p:nvSpPr>
        <p:spPr>
          <a:xfrm>
            <a:off x="640080" y="5486400"/>
            <a:ext cx="3291840" cy="822960"/>
          </a:xfrm>
          <a:prstGeom prst="rect">
            <a:avLst/>
          </a:prstGeom>
          <a:noFill/>
        </p:spPr>
        <p:txBody>
          <a:bodyPr wrap="square" anchor="t" lIns="45720" rIns="45720">
            <a:spAutoFit/>
          </a:bodyPr>
          <a:lstStyle/>
          <a:p>
            <a:pPr algn="l">
              <a:spcAft>
                <a:spcPts val="600"/>
              </a:spcAft>
            </a:pPr>
            <a:r>
              <a:rPr sz="1400" b="0" i="0">
                <a:solidFill>
                  <a:srgbClr val="555B6E"/>
                </a:solidFill>
                <a:latin typeface="Calibri"/>
              </a:rPr>
              <a:t>Initial consultation, surgical &amp; medication queries, chronic conditions</a:t>
            </a:r>
          </a:p>
        </p:txBody>
      </p:sp>
      <p:sp>
        <p:nvSpPr>
          <p:cNvPr id="13" name="Rectangle 12"/>
          <p:cNvSpPr/>
          <p:nvPr/>
        </p:nvSpPr>
        <p:spPr>
          <a:xfrm>
            <a:off x="4297680" y="4983480"/>
            <a:ext cx="3566160" cy="13716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4983480"/>
            <a:ext cx="82296" cy="1371600"/>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5056632"/>
            <a:ext cx="3291840" cy="457200"/>
          </a:xfrm>
          <a:prstGeom prst="rect">
            <a:avLst/>
          </a:prstGeom>
          <a:noFill/>
        </p:spPr>
        <p:txBody>
          <a:bodyPr wrap="square" anchor="t" lIns="45720" rIns="45720">
            <a:spAutoFit/>
          </a:bodyPr>
          <a:lstStyle/>
          <a:p>
            <a:pPr algn="l">
              <a:spcAft>
                <a:spcPts val="600"/>
              </a:spcAft>
            </a:pPr>
            <a:r>
              <a:rPr sz="1700" b="1" i="0">
                <a:solidFill>
                  <a:srgbClr val="C81E2B"/>
                </a:solidFill>
                <a:latin typeface="Calibri"/>
              </a:rPr>
              <a:t>Eye agentic AI system</a:t>
            </a:r>
          </a:p>
        </p:txBody>
      </p:sp>
      <p:sp>
        <p:nvSpPr>
          <p:cNvPr id="16" name="TextBox 15"/>
          <p:cNvSpPr txBox="1"/>
          <p:nvPr/>
        </p:nvSpPr>
        <p:spPr>
          <a:xfrm>
            <a:off x="4480560" y="5486400"/>
            <a:ext cx="3291840" cy="822960"/>
          </a:xfrm>
          <a:prstGeom prst="rect">
            <a:avLst/>
          </a:prstGeom>
          <a:noFill/>
        </p:spPr>
        <p:txBody>
          <a:bodyPr wrap="square" anchor="t" lIns="45720" rIns="45720">
            <a:spAutoFit/>
          </a:bodyPr>
          <a:lstStyle/>
          <a:p>
            <a:pPr algn="l">
              <a:spcAft>
                <a:spcPts val="600"/>
              </a:spcAft>
            </a:pPr>
            <a:r>
              <a:rPr sz="1400" b="0" i="0">
                <a:solidFill>
                  <a:srgbClr val="555B6E"/>
                </a:solidFill>
                <a:latin typeface="Calibri"/>
              </a:rPr>
              <a:t>Imaging → Diagnosis → Summarisation → Scheduling agents</a:t>
            </a:r>
          </a:p>
        </p:txBody>
      </p:sp>
      <p:sp>
        <p:nvSpPr>
          <p:cNvPr id="17" name="Rectangle 16"/>
          <p:cNvSpPr/>
          <p:nvPr/>
        </p:nvSpPr>
        <p:spPr>
          <a:xfrm>
            <a:off x="8138160" y="4983480"/>
            <a:ext cx="3566160" cy="13716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4983480"/>
            <a:ext cx="82296" cy="1371600"/>
          </a:xfrm>
          <a:prstGeom prst="rect">
            <a:avLst/>
          </a:prstGeom>
          <a:solidFill>
            <a:srgbClr val="4C9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5056632"/>
            <a:ext cx="3291840" cy="457200"/>
          </a:xfrm>
          <a:prstGeom prst="rect">
            <a:avLst/>
          </a:prstGeom>
          <a:noFill/>
        </p:spPr>
        <p:txBody>
          <a:bodyPr wrap="square" anchor="t" lIns="45720" rIns="45720">
            <a:spAutoFit/>
          </a:bodyPr>
          <a:lstStyle/>
          <a:p>
            <a:pPr algn="l">
              <a:spcAft>
                <a:spcPts val="600"/>
              </a:spcAft>
            </a:pPr>
            <a:r>
              <a:rPr sz="1700" b="1" i="0">
                <a:solidFill>
                  <a:srgbClr val="4C9A4A"/>
                </a:solidFill>
                <a:latin typeface="Calibri"/>
              </a:rPr>
              <a:t>Output: ophthalmologist</a:t>
            </a:r>
          </a:p>
        </p:txBody>
      </p:sp>
      <p:sp>
        <p:nvSpPr>
          <p:cNvPr id="20" name="TextBox 19"/>
          <p:cNvSpPr txBox="1"/>
          <p:nvPr/>
        </p:nvSpPr>
        <p:spPr>
          <a:xfrm>
            <a:off x="8321040" y="5486400"/>
            <a:ext cx="3291840" cy="822960"/>
          </a:xfrm>
          <a:prstGeom prst="rect">
            <a:avLst/>
          </a:prstGeom>
          <a:noFill/>
        </p:spPr>
        <p:txBody>
          <a:bodyPr wrap="square" anchor="t" lIns="45720" rIns="45720">
            <a:spAutoFit/>
          </a:bodyPr>
          <a:lstStyle/>
          <a:p>
            <a:pPr algn="l">
              <a:spcAft>
                <a:spcPts val="600"/>
              </a:spcAft>
            </a:pPr>
            <a:r>
              <a:rPr sz="1400" b="0" i="0">
                <a:solidFill>
                  <a:srgbClr val="555B6E"/>
                </a:solidFill>
                <a:latin typeface="Calibri"/>
              </a:rPr>
              <a:t>Confirms diagnosis, administers treatment, follow-up examination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731520"/>
          </a:xfrm>
          <a:prstGeom prst="rect">
            <a:avLst/>
          </a:prstGeom>
          <a:noFill/>
        </p:spPr>
        <p:txBody>
          <a:bodyPr wrap="square" anchor="ctr" lIns="45720" rIns="45720">
            <a:spAutoFit/>
          </a:bodyPr>
          <a:lstStyle/>
          <a:p>
            <a:pPr algn="l">
              <a:spcAft>
                <a:spcPts val="600"/>
              </a:spcAft>
            </a:pPr>
            <a:r>
              <a:rPr sz="3000" b="1" i="0">
                <a:solidFill>
                  <a:srgbClr val="FFFFFF"/>
                </a:solidFill>
                <a:latin typeface="Calibri"/>
              </a:rPr>
              <a:t>Methodology (C): Agent-by-Agent Pipeline</a:t>
            </a:r>
          </a:p>
        </p:txBody>
      </p:sp>
      <p:sp>
        <p:nvSpPr>
          <p:cNvPr id="5" name="TextBox 4"/>
          <p:cNvSpPr txBox="1"/>
          <p:nvPr/>
        </p:nvSpPr>
        <p:spPr>
          <a:xfrm>
            <a:off x="457200" y="1024128"/>
            <a:ext cx="11247120" cy="411480"/>
          </a:xfrm>
          <a:prstGeom prst="rect">
            <a:avLst/>
          </a:prstGeom>
          <a:noFill/>
        </p:spPr>
        <p:txBody>
          <a:bodyPr wrap="square" anchor="t" lIns="45720" rIns="45720">
            <a:spAutoFit/>
          </a:bodyPr>
          <a:lstStyle/>
          <a:p>
            <a:pPr algn="l">
              <a:spcAft>
                <a:spcPts val="600"/>
              </a:spcAft>
            </a:pPr>
            <a:r>
              <a:rPr sz="1500" b="0" i="1">
                <a:solidFill>
                  <a:srgbClr val="2E7D9A"/>
                </a:solidFill>
                <a:latin typeface="Calibri"/>
              </a:rPr>
              <a:t>Each agent owns one subtask; together they complete the consultation before clinician review</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600"/>
              </a:spcAft>
            </a:pPr>
            <a:r>
              <a:rPr sz="1100" b="0" i="0">
                <a:solidFill>
                  <a:srgbClr val="555B6E"/>
                </a:solidFill>
                <a:latin typeface="Calibri"/>
              </a:rPr>
              <a:t>Zou et al., Lancet Digital Health 2026; 8: 100967</a:t>
            </a:r>
          </a:p>
        </p:txBody>
      </p:sp>
      <p:sp>
        <p:nvSpPr>
          <p:cNvPr id="7" name="TextBox 6"/>
          <p:cNvSpPr txBox="1"/>
          <p:nvPr/>
        </p:nvSpPr>
        <p:spPr>
          <a:xfrm>
            <a:off x="10820095" y="6446520"/>
            <a:ext cx="914400" cy="320040"/>
          </a:xfrm>
          <a:prstGeom prst="rect">
            <a:avLst/>
          </a:prstGeom>
          <a:noFill/>
        </p:spPr>
        <p:txBody>
          <a:bodyPr wrap="square" anchor="t" lIns="45720" rIns="45720">
            <a:spAutoFit/>
          </a:bodyPr>
          <a:lstStyle/>
          <a:p>
            <a:pPr algn="r">
              <a:spcAft>
                <a:spcPts val="600"/>
              </a:spcAft>
            </a:pPr>
            <a:r>
              <a:rPr sz="1100" b="0" i="0">
                <a:solidFill>
                  <a:srgbClr val="555B6E"/>
                </a:solidFill>
                <a:latin typeface="Calibri"/>
              </a:rPr>
              <a:t>10 / 15</a:t>
            </a:r>
          </a:p>
        </p:txBody>
      </p:sp>
      <p:sp>
        <p:nvSpPr>
          <p:cNvPr id="8" name="Rectangle 7"/>
          <p:cNvSpPr/>
          <p:nvPr/>
        </p:nvSpPr>
        <p:spPr>
          <a:xfrm>
            <a:off x="403707" y="1600200"/>
            <a:ext cx="2606040" cy="393192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03707" y="1600200"/>
            <a:ext cx="2606040" cy="685800"/>
          </a:xfrm>
          <a:prstGeom prst="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3707" y="1600200"/>
            <a:ext cx="2606040" cy="685800"/>
          </a:xfrm>
          <a:prstGeom prst="rect">
            <a:avLst/>
          </a:prstGeom>
          <a:noFill/>
        </p:spPr>
        <p:txBody>
          <a:bodyPr wrap="square" anchor="ctr" lIns="45720" rIns="45720">
            <a:spAutoFit/>
          </a:bodyPr>
          <a:lstStyle/>
          <a:p>
            <a:pPr algn="ctr">
              <a:spcAft>
                <a:spcPts val="600"/>
              </a:spcAft>
            </a:pPr>
            <a:r>
              <a:rPr sz="1800" b="1" i="0">
                <a:solidFill>
                  <a:srgbClr val="FFFFFF"/>
                </a:solidFill>
                <a:latin typeface="Calibri"/>
              </a:rPr>
              <a:t>Imaging agent</a:t>
            </a:r>
          </a:p>
        </p:txBody>
      </p:sp>
      <p:sp>
        <p:nvSpPr>
          <p:cNvPr id="11" name="Rounded Rectangle 10"/>
          <p:cNvSpPr/>
          <p:nvPr/>
        </p:nvSpPr>
        <p:spPr>
          <a:xfrm>
            <a:off x="1066647" y="2423160"/>
            <a:ext cx="1280160" cy="365760"/>
          </a:xfrm>
          <a:prstGeom prst="roundRect">
            <a:avLst/>
          </a:prstGeom>
          <a:solidFill>
            <a:srgbClr val="FFFFFF"/>
          </a:solidFill>
          <a:ln w="19050">
            <a:solidFill>
              <a:srgbClr val="1F2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6647" y="2423160"/>
            <a:ext cx="1280160" cy="365760"/>
          </a:xfrm>
          <a:prstGeom prst="rect">
            <a:avLst/>
          </a:prstGeom>
          <a:noFill/>
        </p:spPr>
        <p:txBody>
          <a:bodyPr wrap="square" anchor="ctr" lIns="45720" rIns="45720">
            <a:spAutoFit/>
          </a:bodyPr>
          <a:lstStyle/>
          <a:p>
            <a:pPr algn="ctr">
              <a:spcAft>
                <a:spcPts val="600"/>
              </a:spcAft>
            </a:pPr>
            <a:r>
              <a:rPr sz="1300" b="1" i="0">
                <a:solidFill>
                  <a:srgbClr val="1F2A5A"/>
                </a:solidFill>
                <a:latin typeface="Calibri"/>
              </a:rPr>
              <a:t>LLM</a:t>
            </a:r>
          </a:p>
        </p:txBody>
      </p:sp>
      <p:sp>
        <p:nvSpPr>
          <p:cNvPr id="13" name="TextBox 12"/>
          <p:cNvSpPr txBox="1"/>
          <p:nvPr/>
        </p:nvSpPr>
        <p:spPr>
          <a:xfrm>
            <a:off x="540867" y="2926080"/>
            <a:ext cx="2331720" cy="2560320"/>
          </a:xfrm>
          <a:prstGeom prst="rect">
            <a:avLst/>
          </a:prstGeom>
          <a:noFill/>
        </p:spPr>
        <p:txBody>
          <a:bodyPr wrap="square" anchor="t" lIns="45720" rIns="45720">
            <a:spAutoFit/>
          </a:bodyPr>
          <a:lstStyle/>
          <a:p>
            <a:pPr algn="l">
              <a:spcAft>
                <a:spcPts val="600"/>
              </a:spcAft>
            </a:pPr>
            <a:r>
              <a:rPr sz="1500" b="0" i="0">
                <a:solidFill>
                  <a:srgbClr val="555B6E"/>
                </a:solidFill>
                <a:latin typeface="Calibri"/>
              </a:rPr>
              <a:t>Gathers eye complaints &amp; visual demands; autonomously orders tests: VA, intraocular pressure, refraction, dilation, fundus photo</a:t>
            </a:r>
          </a:p>
        </p:txBody>
      </p:sp>
      <p:sp>
        <p:nvSpPr>
          <p:cNvPr id="14" name="Right Arrow 13"/>
          <p:cNvSpPr/>
          <p:nvPr/>
        </p:nvSpPr>
        <p:spPr>
          <a:xfrm>
            <a:off x="3046323" y="3520440"/>
            <a:ext cx="246888" cy="411480"/>
          </a:xfrm>
          <a:prstGeom prst="rightArrow">
            <a:avLst/>
          </a:prstGeom>
          <a:solidFill>
            <a:srgbClr val="555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29787" y="1600200"/>
            <a:ext cx="2606040" cy="393192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29787" y="1600200"/>
            <a:ext cx="2606040" cy="685800"/>
          </a:xfrm>
          <a:prstGeom prst="rect">
            <a:avLst/>
          </a:prstGeom>
          <a:solidFill>
            <a:srgbClr val="2E7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29787" y="1600200"/>
            <a:ext cx="2606040" cy="685800"/>
          </a:xfrm>
          <a:prstGeom prst="rect">
            <a:avLst/>
          </a:prstGeom>
          <a:noFill/>
        </p:spPr>
        <p:txBody>
          <a:bodyPr wrap="square" anchor="ctr" lIns="45720" rIns="45720">
            <a:spAutoFit/>
          </a:bodyPr>
          <a:lstStyle/>
          <a:p>
            <a:pPr algn="ctr">
              <a:spcAft>
                <a:spcPts val="600"/>
              </a:spcAft>
            </a:pPr>
            <a:r>
              <a:rPr sz="1800" b="1" i="0">
                <a:solidFill>
                  <a:srgbClr val="FFFFFF"/>
                </a:solidFill>
                <a:latin typeface="Calibri"/>
              </a:rPr>
              <a:t>Diagnosis agent</a:t>
            </a:r>
          </a:p>
        </p:txBody>
      </p:sp>
      <p:sp>
        <p:nvSpPr>
          <p:cNvPr id="18" name="Rounded Rectangle 17"/>
          <p:cNvSpPr/>
          <p:nvPr/>
        </p:nvSpPr>
        <p:spPr>
          <a:xfrm>
            <a:off x="3992727" y="2423160"/>
            <a:ext cx="1280160" cy="365760"/>
          </a:xfrm>
          <a:prstGeom prst="roundRect">
            <a:avLst/>
          </a:prstGeom>
          <a:solidFill>
            <a:srgbClr val="FFFFFF"/>
          </a:solidFill>
          <a:ln w="19050">
            <a:solidFill>
              <a:srgbClr val="2E7D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92727" y="2423160"/>
            <a:ext cx="1280160" cy="365760"/>
          </a:xfrm>
          <a:prstGeom prst="rect">
            <a:avLst/>
          </a:prstGeom>
          <a:noFill/>
        </p:spPr>
        <p:txBody>
          <a:bodyPr wrap="square" anchor="ctr" lIns="45720" rIns="45720">
            <a:spAutoFit/>
          </a:bodyPr>
          <a:lstStyle/>
          <a:p>
            <a:pPr algn="ctr">
              <a:spcAft>
                <a:spcPts val="600"/>
              </a:spcAft>
            </a:pPr>
            <a:r>
              <a:rPr sz="1300" b="1" i="0">
                <a:solidFill>
                  <a:srgbClr val="2E7D9A"/>
                </a:solidFill>
                <a:latin typeface="Calibri"/>
              </a:rPr>
              <a:t>VLM</a:t>
            </a:r>
          </a:p>
        </p:txBody>
      </p:sp>
      <p:sp>
        <p:nvSpPr>
          <p:cNvPr id="20" name="TextBox 19"/>
          <p:cNvSpPr txBox="1"/>
          <p:nvPr/>
        </p:nvSpPr>
        <p:spPr>
          <a:xfrm>
            <a:off x="3466947" y="2926080"/>
            <a:ext cx="2331720" cy="2560320"/>
          </a:xfrm>
          <a:prstGeom prst="rect">
            <a:avLst/>
          </a:prstGeom>
          <a:noFill/>
        </p:spPr>
        <p:txBody>
          <a:bodyPr wrap="square" anchor="t" lIns="45720" rIns="45720">
            <a:spAutoFit/>
          </a:bodyPr>
          <a:lstStyle/>
          <a:p>
            <a:pPr algn="l">
              <a:spcAft>
                <a:spcPts val="600"/>
              </a:spcAft>
            </a:pPr>
            <a:r>
              <a:rPr sz="1500" b="0" i="0">
                <a:solidFill>
                  <a:srgbClr val="555B6E"/>
                </a:solidFill>
                <a:latin typeface="Calibri"/>
              </a:rPr>
              <a:t>Analyses acquired ocular images; preliminary diagnosis: (1) cataract, (2) other comorbidities. Evidence: lens opacity, reduced VA</a:t>
            </a:r>
          </a:p>
        </p:txBody>
      </p:sp>
      <p:sp>
        <p:nvSpPr>
          <p:cNvPr id="21" name="Right Arrow 20"/>
          <p:cNvSpPr/>
          <p:nvPr/>
        </p:nvSpPr>
        <p:spPr>
          <a:xfrm>
            <a:off x="5972403" y="3520440"/>
            <a:ext cx="246888" cy="411480"/>
          </a:xfrm>
          <a:prstGeom prst="rightArrow">
            <a:avLst/>
          </a:prstGeom>
          <a:solidFill>
            <a:srgbClr val="555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55867" y="1600200"/>
            <a:ext cx="2606040" cy="393192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5867" y="1600200"/>
            <a:ext cx="2606040" cy="685800"/>
          </a:xfrm>
          <a:prstGeom prst="rect">
            <a:avLst/>
          </a:prstGeom>
          <a:solidFill>
            <a:srgbClr val="4C9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55867" y="1600200"/>
            <a:ext cx="2606040" cy="685800"/>
          </a:xfrm>
          <a:prstGeom prst="rect">
            <a:avLst/>
          </a:prstGeom>
          <a:noFill/>
        </p:spPr>
        <p:txBody>
          <a:bodyPr wrap="square" anchor="ctr" lIns="45720" rIns="45720">
            <a:spAutoFit/>
          </a:bodyPr>
          <a:lstStyle/>
          <a:p>
            <a:pPr algn="ctr">
              <a:spcAft>
                <a:spcPts val="600"/>
              </a:spcAft>
            </a:pPr>
            <a:r>
              <a:rPr sz="1800" b="1" i="0">
                <a:solidFill>
                  <a:srgbClr val="FFFFFF"/>
                </a:solidFill>
                <a:latin typeface="Calibri"/>
              </a:rPr>
              <a:t>Summarisation agent</a:t>
            </a:r>
          </a:p>
        </p:txBody>
      </p:sp>
      <p:sp>
        <p:nvSpPr>
          <p:cNvPr id="25" name="Rounded Rectangle 24"/>
          <p:cNvSpPr/>
          <p:nvPr/>
        </p:nvSpPr>
        <p:spPr>
          <a:xfrm>
            <a:off x="6918807" y="2423160"/>
            <a:ext cx="1280160" cy="365760"/>
          </a:xfrm>
          <a:prstGeom prst="roundRect">
            <a:avLst/>
          </a:prstGeom>
          <a:solidFill>
            <a:srgbClr val="FFFFFF"/>
          </a:solidFill>
          <a:ln w="19050">
            <a:solidFill>
              <a:srgbClr val="4C9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18807" y="2423160"/>
            <a:ext cx="1280160" cy="365760"/>
          </a:xfrm>
          <a:prstGeom prst="rect">
            <a:avLst/>
          </a:prstGeom>
          <a:noFill/>
        </p:spPr>
        <p:txBody>
          <a:bodyPr wrap="square" anchor="ctr" lIns="45720" rIns="45720">
            <a:spAutoFit/>
          </a:bodyPr>
          <a:lstStyle/>
          <a:p>
            <a:pPr algn="ctr">
              <a:spcAft>
                <a:spcPts val="600"/>
              </a:spcAft>
            </a:pPr>
            <a:r>
              <a:rPr sz="1300" b="1" i="0">
                <a:solidFill>
                  <a:srgbClr val="4C9A4A"/>
                </a:solidFill>
                <a:latin typeface="Calibri"/>
              </a:rPr>
              <a:t>LLM</a:t>
            </a:r>
          </a:p>
        </p:txBody>
      </p:sp>
      <p:sp>
        <p:nvSpPr>
          <p:cNvPr id="27" name="TextBox 26"/>
          <p:cNvSpPr txBox="1"/>
          <p:nvPr/>
        </p:nvSpPr>
        <p:spPr>
          <a:xfrm>
            <a:off x="6393027" y="2926080"/>
            <a:ext cx="2331720" cy="2560320"/>
          </a:xfrm>
          <a:prstGeom prst="rect">
            <a:avLst/>
          </a:prstGeom>
          <a:noFill/>
        </p:spPr>
        <p:txBody>
          <a:bodyPr wrap="square" anchor="t" lIns="45720" rIns="45720">
            <a:spAutoFit/>
          </a:bodyPr>
          <a:lstStyle/>
          <a:p>
            <a:pPr algn="l">
              <a:spcAft>
                <a:spcPts val="600"/>
              </a:spcAft>
            </a:pPr>
            <a:r>
              <a:rPr sz="1500" b="0" i="0">
                <a:solidFill>
                  <a:srgbClr val="555B6E"/>
                </a:solidFill>
                <a:latin typeface="Calibri"/>
              </a:rPr>
              <a:t>Compiles diagnostic information into summarised reports and a preliminary treatment plan; forwards to clinician</a:t>
            </a:r>
          </a:p>
        </p:txBody>
      </p:sp>
      <p:sp>
        <p:nvSpPr>
          <p:cNvPr id="28" name="Right Arrow 27"/>
          <p:cNvSpPr/>
          <p:nvPr/>
        </p:nvSpPr>
        <p:spPr>
          <a:xfrm>
            <a:off x="8898483" y="3520440"/>
            <a:ext cx="246888" cy="411480"/>
          </a:xfrm>
          <a:prstGeom prst="rightArrow">
            <a:avLst/>
          </a:prstGeom>
          <a:solidFill>
            <a:srgbClr val="555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81947" y="1600200"/>
            <a:ext cx="2606040" cy="393192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181947" y="1600200"/>
            <a:ext cx="2606040" cy="685800"/>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81947" y="1600200"/>
            <a:ext cx="2606040" cy="685800"/>
          </a:xfrm>
          <a:prstGeom prst="rect">
            <a:avLst/>
          </a:prstGeom>
          <a:noFill/>
        </p:spPr>
        <p:txBody>
          <a:bodyPr wrap="square" anchor="ctr" lIns="45720" rIns="45720">
            <a:spAutoFit/>
          </a:bodyPr>
          <a:lstStyle/>
          <a:p>
            <a:pPr algn="ctr">
              <a:spcAft>
                <a:spcPts val="600"/>
              </a:spcAft>
            </a:pPr>
            <a:r>
              <a:rPr sz="1800" b="1" i="0">
                <a:solidFill>
                  <a:srgbClr val="FFFFFF"/>
                </a:solidFill>
                <a:latin typeface="Calibri"/>
              </a:rPr>
              <a:t>Scheduling agent</a:t>
            </a:r>
          </a:p>
        </p:txBody>
      </p:sp>
      <p:sp>
        <p:nvSpPr>
          <p:cNvPr id="32" name="Rounded Rectangle 31"/>
          <p:cNvSpPr/>
          <p:nvPr/>
        </p:nvSpPr>
        <p:spPr>
          <a:xfrm>
            <a:off x="9844887" y="2423160"/>
            <a:ext cx="1280160" cy="365760"/>
          </a:xfrm>
          <a:prstGeom prst="roundRect">
            <a:avLst/>
          </a:prstGeom>
          <a:solidFill>
            <a:srgbClr val="FFFFFF"/>
          </a:solidFill>
          <a:ln w="19050">
            <a:solidFill>
              <a:srgbClr val="C81E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44887" y="2423160"/>
            <a:ext cx="1280160" cy="365760"/>
          </a:xfrm>
          <a:prstGeom prst="rect">
            <a:avLst/>
          </a:prstGeom>
          <a:noFill/>
        </p:spPr>
        <p:txBody>
          <a:bodyPr wrap="square" anchor="ctr" lIns="45720" rIns="45720">
            <a:spAutoFit/>
          </a:bodyPr>
          <a:lstStyle/>
          <a:p>
            <a:pPr algn="ctr">
              <a:spcAft>
                <a:spcPts val="600"/>
              </a:spcAft>
            </a:pPr>
            <a:r>
              <a:rPr sz="1300" b="1" i="0">
                <a:solidFill>
                  <a:srgbClr val="C81E2B"/>
                </a:solidFill>
                <a:latin typeface="Calibri"/>
              </a:rPr>
              <a:t>Triggered</a:t>
            </a:r>
          </a:p>
        </p:txBody>
      </p:sp>
      <p:sp>
        <p:nvSpPr>
          <p:cNvPr id="34" name="TextBox 33"/>
          <p:cNvSpPr txBox="1"/>
          <p:nvPr/>
        </p:nvSpPr>
        <p:spPr>
          <a:xfrm>
            <a:off x="9319107" y="2926080"/>
            <a:ext cx="2331720" cy="2560320"/>
          </a:xfrm>
          <a:prstGeom prst="rect">
            <a:avLst/>
          </a:prstGeom>
          <a:noFill/>
        </p:spPr>
        <p:txBody>
          <a:bodyPr wrap="square" anchor="t" lIns="45720" rIns="45720">
            <a:spAutoFit/>
          </a:bodyPr>
          <a:lstStyle/>
          <a:p>
            <a:pPr algn="l">
              <a:spcAft>
                <a:spcPts val="600"/>
              </a:spcAft>
            </a:pPr>
            <a:r>
              <a:rPr sz="1500" b="0" i="0">
                <a:solidFill>
                  <a:srgbClr val="555B6E"/>
                </a:solidFill>
                <a:latin typeface="Calibri"/>
              </a:rPr>
              <a:t>If significant cataract: books surgery, recommends a suitable artificial lens (IOL), plans tailored post-op follow-up</a:t>
            </a:r>
          </a:p>
        </p:txBody>
      </p:sp>
      <p:sp>
        <p:nvSpPr>
          <p:cNvPr id="35" name="TextBox 34"/>
          <p:cNvSpPr txBox="1"/>
          <p:nvPr/>
        </p:nvSpPr>
        <p:spPr>
          <a:xfrm>
            <a:off x="548640" y="5715000"/>
            <a:ext cx="11064240" cy="640080"/>
          </a:xfrm>
          <a:prstGeom prst="rect">
            <a:avLst/>
          </a:prstGeom>
          <a:noFill/>
        </p:spPr>
        <p:txBody>
          <a:bodyPr wrap="square" anchor="t" lIns="45720" rIns="45720">
            <a:spAutoFit/>
          </a:bodyPr>
          <a:lstStyle/>
          <a:p>
            <a:pPr algn="ctr">
              <a:spcAft>
                <a:spcPts val="600"/>
              </a:spcAft>
            </a:pPr>
            <a:r>
              <a:rPr sz="1500" b="1" i="0">
                <a:solidFill>
                  <a:srgbClr val="1F2A5A"/>
                </a:solidFill>
                <a:latin typeface="Calibri"/>
              </a:rPr>
              <a:t>Result: consultation, diagnostic interpretation and follow-up preparation are done in advance → streamlined, patient-centred workflow; the clinician retains the final decision.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731520"/>
          </a:xfrm>
          <a:prstGeom prst="rect">
            <a:avLst/>
          </a:prstGeom>
          <a:noFill/>
        </p:spPr>
        <p:txBody>
          <a:bodyPr wrap="square" anchor="ctr" lIns="45720" rIns="45720">
            <a:spAutoFit/>
          </a:bodyPr>
          <a:lstStyle/>
          <a:p>
            <a:pPr algn="l">
              <a:spcAft>
                <a:spcPts val="600"/>
              </a:spcAft>
            </a:pPr>
            <a:r>
              <a:rPr sz="3000" b="1" i="0">
                <a:solidFill>
                  <a:srgbClr val="FFFFFF"/>
                </a:solidFill>
                <a:latin typeface="Calibri"/>
              </a:rPr>
              <a:t>Challenges of Agentic AI in Healthcare</a:t>
            </a:r>
          </a:p>
        </p:txBody>
      </p:sp>
      <p:sp>
        <p:nvSpPr>
          <p:cNvPr id="5" name="TextBox 4"/>
          <p:cNvSpPr txBox="1"/>
          <p:nvPr/>
        </p:nvSpPr>
        <p:spPr>
          <a:xfrm>
            <a:off x="457200" y="1024128"/>
            <a:ext cx="11247120" cy="411480"/>
          </a:xfrm>
          <a:prstGeom prst="rect">
            <a:avLst/>
          </a:prstGeom>
          <a:noFill/>
        </p:spPr>
        <p:txBody>
          <a:bodyPr wrap="square" anchor="t" lIns="45720" rIns="45720">
            <a:spAutoFit/>
          </a:bodyPr>
          <a:lstStyle/>
          <a:p>
            <a:pPr algn="l">
              <a:spcAft>
                <a:spcPts val="600"/>
              </a:spcAft>
            </a:pPr>
            <a:r>
              <a:rPr sz="1500" b="0" i="1">
                <a:solidFill>
                  <a:srgbClr val="2E7D9A"/>
                </a:solidFill>
                <a:latin typeface="Calibri"/>
              </a:rPr>
              <a:t>Five real-world barriers identified by the authors</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600"/>
              </a:spcAft>
            </a:pPr>
            <a:r>
              <a:rPr sz="1100" b="0" i="0">
                <a:solidFill>
                  <a:srgbClr val="555B6E"/>
                </a:solidFill>
                <a:latin typeface="Calibri"/>
              </a:rPr>
              <a:t>Zou et al., Lancet Digital Health 2026; 8: 100967</a:t>
            </a:r>
          </a:p>
        </p:txBody>
      </p:sp>
      <p:sp>
        <p:nvSpPr>
          <p:cNvPr id="7" name="TextBox 6"/>
          <p:cNvSpPr txBox="1"/>
          <p:nvPr/>
        </p:nvSpPr>
        <p:spPr>
          <a:xfrm>
            <a:off x="10820095" y="6446520"/>
            <a:ext cx="914400" cy="320040"/>
          </a:xfrm>
          <a:prstGeom prst="rect">
            <a:avLst/>
          </a:prstGeom>
          <a:noFill/>
        </p:spPr>
        <p:txBody>
          <a:bodyPr wrap="square" anchor="t" lIns="45720" rIns="45720">
            <a:spAutoFit/>
          </a:bodyPr>
          <a:lstStyle/>
          <a:p>
            <a:pPr algn="r">
              <a:spcAft>
                <a:spcPts val="600"/>
              </a:spcAft>
            </a:pPr>
            <a:r>
              <a:rPr sz="1100" b="0" i="0">
                <a:solidFill>
                  <a:srgbClr val="555B6E"/>
                </a:solidFill>
                <a:latin typeface="Calibri"/>
              </a:rPr>
              <a:t>11 / 15</a:t>
            </a:r>
          </a:p>
        </p:txBody>
      </p:sp>
      <p:sp>
        <p:nvSpPr>
          <p:cNvPr id="8" name="Rounded Rectangle 7"/>
          <p:cNvSpPr/>
          <p:nvPr/>
        </p:nvSpPr>
        <p:spPr>
          <a:xfrm>
            <a:off x="548640" y="1508760"/>
            <a:ext cx="3291840" cy="822960"/>
          </a:xfrm>
          <a:prstGeom prst="round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508760"/>
            <a:ext cx="3291840" cy="822960"/>
          </a:xfrm>
          <a:prstGeom prst="rect">
            <a:avLst/>
          </a:prstGeom>
          <a:noFill/>
        </p:spPr>
        <p:txBody>
          <a:bodyPr wrap="square" anchor="ctr" lIns="45720" rIns="45720">
            <a:spAutoFit/>
          </a:bodyPr>
          <a:lstStyle/>
          <a:p>
            <a:pPr algn="ctr">
              <a:spcAft>
                <a:spcPts val="600"/>
              </a:spcAft>
            </a:pPr>
            <a:r>
              <a:rPr sz="1700" b="1" i="0">
                <a:solidFill>
                  <a:srgbClr val="FFFFFF"/>
                </a:solidFill>
                <a:latin typeface="Calibri"/>
              </a:rPr>
              <a:t>1. Computational cost</a:t>
            </a:r>
          </a:p>
        </p:txBody>
      </p:sp>
      <p:sp>
        <p:nvSpPr>
          <p:cNvPr id="10" name="Rectangle 9"/>
          <p:cNvSpPr/>
          <p:nvPr/>
        </p:nvSpPr>
        <p:spPr>
          <a:xfrm>
            <a:off x="3977639" y="1508760"/>
            <a:ext cx="7680960" cy="8229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0" y="1508760"/>
            <a:ext cx="7498079" cy="822960"/>
          </a:xfrm>
          <a:prstGeom prst="rect">
            <a:avLst/>
          </a:prstGeom>
          <a:noFill/>
        </p:spPr>
        <p:txBody>
          <a:bodyPr wrap="square" anchor="ctr" lIns="45720" rIns="45720">
            <a:spAutoFit/>
          </a:bodyPr>
          <a:lstStyle/>
          <a:p>
            <a:pPr algn="l">
              <a:spcAft>
                <a:spcPts val="600"/>
              </a:spcAft>
            </a:pPr>
            <a:r>
              <a:rPr sz="1500" b="0" i="0">
                <a:solidFill>
                  <a:srgbClr val="555B6E"/>
                </a:solidFill>
                <a:latin typeface="Calibri"/>
              </a:rPr>
              <a:t>Storing/processing clinical history, imaging and inter-agent dialogue strains edge and mobile devices.</a:t>
            </a:r>
          </a:p>
        </p:txBody>
      </p:sp>
      <p:sp>
        <p:nvSpPr>
          <p:cNvPr id="12" name="Rounded Rectangle 11"/>
          <p:cNvSpPr/>
          <p:nvPr/>
        </p:nvSpPr>
        <p:spPr>
          <a:xfrm>
            <a:off x="548640" y="2468880"/>
            <a:ext cx="3291840" cy="822960"/>
          </a:xfrm>
          <a:prstGeom prst="round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468880"/>
            <a:ext cx="3291840" cy="822960"/>
          </a:xfrm>
          <a:prstGeom prst="rect">
            <a:avLst/>
          </a:prstGeom>
          <a:noFill/>
        </p:spPr>
        <p:txBody>
          <a:bodyPr wrap="square" anchor="ctr" lIns="45720" rIns="45720">
            <a:spAutoFit/>
          </a:bodyPr>
          <a:lstStyle/>
          <a:p>
            <a:pPr algn="ctr">
              <a:spcAft>
                <a:spcPts val="600"/>
              </a:spcAft>
            </a:pPr>
            <a:r>
              <a:rPr sz="1700" b="1" i="0">
                <a:solidFill>
                  <a:srgbClr val="FFFFFF"/>
                </a:solidFill>
                <a:latin typeface="Calibri"/>
              </a:rPr>
              <a:t>2. Fragile coordination</a:t>
            </a:r>
          </a:p>
        </p:txBody>
      </p:sp>
      <p:sp>
        <p:nvSpPr>
          <p:cNvPr id="14" name="Rectangle 13"/>
          <p:cNvSpPr/>
          <p:nvPr/>
        </p:nvSpPr>
        <p:spPr>
          <a:xfrm>
            <a:off x="3977639" y="2468880"/>
            <a:ext cx="7680960" cy="8229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0" y="2468880"/>
            <a:ext cx="7498079" cy="822960"/>
          </a:xfrm>
          <a:prstGeom prst="rect">
            <a:avLst/>
          </a:prstGeom>
          <a:noFill/>
        </p:spPr>
        <p:txBody>
          <a:bodyPr wrap="square" anchor="ctr" lIns="45720" rIns="45720">
            <a:spAutoFit/>
          </a:bodyPr>
          <a:lstStyle/>
          <a:p>
            <a:pPr algn="l">
              <a:spcAft>
                <a:spcPts val="600"/>
              </a:spcAft>
            </a:pPr>
            <a:r>
              <a:rPr sz="1500" b="0" i="0">
                <a:solidFill>
                  <a:srgbClr val="555B6E"/>
                </a:solidFill>
                <a:latin typeface="Calibri"/>
              </a:rPr>
              <a:t>Without standard protocols and shared goals, agents may give inconsistent outputs or compete for resources (e.g., emergency triage).</a:t>
            </a:r>
          </a:p>
        </p:txBody>
      </p:sp>
      <p:sp>
        <p:nvSpPr>
          <p:cNvPr id="16" name="Rounded Rectangle 15"/>
          <p:cNvSpPr/>
          <p:nvPr/>
        </p:nvSpPr>
        <p:spPr>
          <a:xfrm>
            <a:off x="548640" y="3429000"/>
            <a:ext cx="3291840" cy="822960"/>
          </a:xfrm>
          <a:prstGeom prst="round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429000"/>
            <a:ext cx="3291840" cy="822960"/>
          </a:xfrm>
          <a:prstGeom prst="rect">
            <a:avLst/>
          </a:prstGeom>
          <a:noFill/>
        </p:spPr>
        <p:txBody>
          <a:bodyPr wrap="square" anchor="ctr" lIns="45720" rIns="45720">
            <a:spAutoFit/>
          </a:bodyPr>
          <a:lstStyle/>
          <a:p>
            <a:pPr algn="ctr">
              <a:spcAft>
                <a:spcPts val="600"/>
              </a:spcAft>
            </a:pPr>
            <a:r>
              <a:rPr sz="1700" b="1" i="0">
                <a:solidFill>
                  <a:srgbClr val="FFFFFF"/>
                </a:solidFill>
                <a:latin typeface="Calibri"/>
              </a:rPr>
              <a:t>3. Emergent behaviour</a:t>
            </a:r>
          </a:p>
        </p:txBody>
      </p:sp>
      <p:sp>
        <p:nvSpPr>
          <p:cNvPr id="18" name="Rectangle 17"/>
          <p:cNvSpPr/>
          <p:nvPr/>
        </p:nvSpPr>
        <p:spPr>
          <a:xfrm>
            <a:off x="3977639" y="3429000"/>
            <a:ext cx="7680960" cy="8229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0" y="3429000"/>
            <a:ext cx="7498079" cy="822960"/>
          </a:xfrm>
          <a:prstGeom prst="rect">
            <a:avLst/>
          </a:prstGeom>
          <a:noFill/>
        </p:spPr>
        <p:txBody>
          <a:bodyPr wrap="square" anchor="ctr" lIns="45720" rIns="45720">
            <a:spAutoFit/>
          </a:bodyPr>
          <a:lstStyle/>
          <a:p>
            <a:pPr algn="l">
              <a:spcAft>
                <a:spcPts val="600"/>
              </a:spcAft>
            </a:pPr>
            <a:r>
              <a:rPr sz="1500" b="0" i="0">
                <a:solidFill>
                  <a:srgbClr val="555B6E"/>
                </a:solidFill>
                <a:latin typeface="Calibri"/>
              </a:rPr>
              <a:t>Complex interactions can be unsafe, e.g., scheduling and diagnostic agents mis-prioritising high-risk patients.</a:t>
            </a:r>
          </a:p>
        </p:txBody>
      </p:sp>
      <p:sp>
        <p:nvSpPr>
          <p:cNvPr id="20" name="Rounded Rectangle 19"/>
          <p:cNvSpPr/>
          <p:nvPr/>
        </p:nvSpPr>
        <p:spPr>
          <a:xfrm>
            <a:off x="548640" y="4389120"/>
            <a:ext cx="3291840" cy="822960"/>
          </a:xfrm>
          <a:prstGeom prst="round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389120"/>
            <a:ext cx="3291840" cy="822960"/>
          </a:xfrm>
          <a:prstGeom prst="rect">
            <a:avLst/>
          </a:prstGeom>
          <a:noFill/>
        </p:spPr>
        <p:txBody>
          <a:bodyPr wrap="square" anchor="ctr" lIns="45720" rIns="45720">
            <a:spAutoFit/>
          </a:bodyPr>
          <a:lstStyle/>
          <a:p>
            <a:pPr algn="ctr">
              <a:spcAft>
                <a:spcPts val="600"/>
              </a:spcAft>
            </a:pPr>
            <a:r>
              <a:rPr sz="1700" b="1" i="0">
                <a:solidFill>
                  <a:srgbClr val="FFFFFF"/>
                </a:solidFill>
                <a:latin typeface="Calibri"/>
              </a:rPr>
              <a:t>4. Debugging &amp; traceability</a:t>
            </a:r>
          </a:p>
        </p:txBody>
      </p:sp>
      <p:sp>
        <p:nvSpPr>
          <p:cNvPr id="22" name="Rectangle 21"/>
          <p:cNvSpPr/>
          <p:nvPr/>
        </p:nvSpPr>
        <p:spPr>
          <a:xfrm>
            <a:off x="3977639" y="4389120"/>
            <a:ext cx="7680960" cy="8229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0" y="4389120"/>
            <a:ext cx="7498079" cy="822960"/>
          </a:xfrm>
          <a:prstGeom prst="rect">
            <a:avLst/>
          </a:prstGeom>
          <a:noFill/>
        </p:spPr>
        <p:txBody>
          <a:bodyPr wrap="square" anchor="ctr" lIns="45720" rIns="45720">
            <a:spAutoFit/>
          </a:bodyPr>
          <a:lstStyle/>
          <a:p>
            <a:pPr algn="l">
              <a:spcAft>
                <a:spcPts val="600"/>
              </a:spcAft>
            </a:pPr>
            <a:r>
              <a:rPr sz="1500" b="0" i="0">
                <a:solidFill>
                  <a:srgbClr val="555B6E"/>
                </a:solidFill>
                <a:latin typeface="Calibri"/>
              </a:rPr>
              <a:t>Tracing decisions across asynchronous, interdependent agents is hard and erodes clinician trust.</a:t>
            </a:r>
          </a:p>
        </p:txBody>
      </p:sp>
      <p:sp>
        <p:nvSpPr>
          <p:cNvPr id="24" name="Rounded Rectangle 23"/>
          <p:cNvSpPr/>
          <p:nvPr/>
        </p:nvSpPr>
        <p:spPr>
          <a:xfrm>
            <a:off x="548640" y="5349240"/>
            <a:ext cx="3291840" cy="822960"/>
          </a:xfrm>
          <a:prstGeom prst="round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349240"/>
            <a:ext cx="3291840" cy="822960"/>
          </a:xfrm>
          <a:prstGeom prst="rect">
            <a:avLst/>
          </a:prstGeom>
          <a:noFill/>
        </p:spPr>
        <p:txBody>
          <a:bodyPr wrap="square" anchor="ctr" lIns="45720" rIns="45720">
            <a:spAutoFit/>
          </a:bodyPr>
          <a:lstStyle/>
          <a:p>
            <a:pPr algn="ctr">
              <a:spcAft>
                <a:spcPts val="600"/>
              </a:spcAft>
            </a:pPr>
            <a:r>
              <a:rPr sz="1700" b="1" i="0">
                <a:solidFill>
                  <a:srgbClr val="FFFFFF"/>
                </a:solidFill>
                <a:latin typeface="Calibri"/>
              </a:rPr>
              <a:t>5. Fairness, ethics &amp; safety</a:t>
            </a:r>
          </a:p>
        </p:txBody>
      </p:sp>
      <p:sp>
        <p:nvSpPr>
          <p:cNvPr id="26" name="Rectangle 25"/>
          <p:cNvSpPr/>
          <p:nvPr/>
        </p:nvSpPr>
        <p:spPr>
          <a:xfrm>
            <a:off x="3977639" y="5349240"/>
            <a:ext cx="7680960" cy="8229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0" y="5349240"/>
            <a:ext cx="7498079" cy="822960"/>
          </a:xfrm>
          <a:prstGeom prst="rect">
            <a:avLst/>
          </a:prstGeom>
          <a:noFill/>
        </p:spPr>
        <p:txBody>
          <a:bodyPr wrap="square" anchor="ctr" lIns="45720" rIns="45720">
            <a:spAutoFit/>
          </a:bodyPr>
          <a:lstStyle/>
          <a:p>
            <a:pPr algn="l">
              <a:spcAft>
                <a:spcPts val="600"/>
              </a:spcAft>
            </a:pPr>
            <a:r>
              <a:rPr sz="1500" b="0" i="0">
                <a:solidFill>
                  <a:srgbClr val="555B6E"/>
                </a:solidFill>
                <a:latin typeface="Calibri"/>
              </a:rPr>
              <a:t>Remain considerably under-explored for agentic deployments.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731520"/>
          </a:xfrm>
          <a:prstGeom prst="rect">
            <a:avLst/>
          </a:prstGeom>
          <a:noFill/>
        </p:spPr>
        <p:txBody>
          <a:bodyPr wrap="square" anchor="ctr" lIns="45720" rIns="45720">
            <a:spAutoFit/>
          </a:bodyPr>
          <a:lstStyle/>
          <a:p>
            <a:pPr algn="l">
              <a:spcAft>
                <a:spcPts val="600"/>
              </a:spcAft>
            </a:pPr>
            <a:r>
              <a:rPr sz="3000" b="1" i="0">
                <a:solidFill>
                  <a:srgbClr val="FFFFFF"/>
                </a:solidFill>
                <a:latin typeface="Calibri"/>
              </a:rPr>
              <a:t>Proposed Solutions &amp; Key Enablers</a:t>
            </a:r>
          </a:p>
        </p:txBody>
      </p:sp>
      <p:sp>
        <p:nvSpPr>
          <p:cNvPr id="5" name="TextBox 4"/>
          <p:cNvSpPr txBox="1"/>
          <p:nvPr/>
        </p:nvSpPr>
        <p:spPr>
          <a:xfrm>
            <a:off x="457200" y="1024128"/>
            <a:ext cx="11247120" cy="411480"/>
          </a:xfrm>
          <a:prstGeom prst="rect">
            <a:avLst/>
          </a:prstGeom>
          <a:noFill/>
        </p:spPr>
        <p:txBody>
          <a:bodyPr wrap="square" anchor="t" lIns="45720" rIns="45720">
            <a:spAutoFit/>
          </a:bodyPr>
          <a:lstStyle/>
          <a:p>
            <a:pPr algn="l">
              <a:spcAft>
                <a:spcPts val="600"/>
              </a:spcAft>
            </a:pPr>
            <a:r>
              <a:rPr sz="1500" b="0" i="1">
                <a:solidFill>
                  <a:srgbClr val="2E7D9A"/>
                </a:solidFill>
                <a:latin typeface="Calibri"/>
              </a:rPr>
              <a:t>Coordinated advances needed across several fronts</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600"/>
              </a:spcAft>
            </a:pPr>
            <a:r>
              <a:rPr sz="1100" b="0" i="0">
                <a:solidFill>
                  <a:srgbClr val="555B6E"/>
                </a:solidFill>
                <a:latin typeface="Calibri"/>
              </a:rPr>
              <a:t>Zou et al., Lancet Digital Health 2026; 8: 100967</a:t>
            </a:r>
          </a:p>
        </p:txBody>
      </p:sp>
      <p:sp>
        <p:nvSpPr>
          <p:cNvPr id="7" name="TextBox 6"/>
          <p:cNvSpPr txBox="1"/>
          <p:nvPr/>
        </p:nvSpPr>
        <p:spPr>
          <a:xfrm>
            <a:off x="10820095" y="6446520"/>
            <a:ext cx="914400" cy="320040"/>
          </a:xfrm>
          <a:prstGeom prst="rect">
            <a:avLst/>
          </a:prstGeom>
          <a:noFill/>
        </p:spPr>
        <p:txBody>
          <a:bodyPr wrap="square" anchor="t" lIns="45720" rIns="45720">
            <a:spAutoFit/>
          </a:bodyPr>
          <a:lstStyle/>
          <a:p>
            <a:pPr algn="r">
              <a:spcAft>
                <a:spcPts val="600"/>
              </a:spcAft>
            </a:pPr>
            <a:r>
              <a:rPr sz="1100" b="0" i="0">
                <a:solidFill>
                  <a:srgbClr val="555B6E"/>
                </a:solidFill>
                <a:latin typeface="Calibri"/>
              </a:rPr>
              <a:t>12 / 15</a:t>
            </a:r>
          </a:p>
        </p:txBody>
      </p:sp>
      <p:sp>
        <p:nvSpPr>
          <p:cNvPr id="8" name="Rectangle 7"/>
          <p:cNvSpPr/>
          <p:nvPr/>
        </p:nvSpPr>
        <p:spPr>
          <a:xfrm>
            <a:off x="457200" y="1508760"/>
            <a:ext cx="5486400" cy="18288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508760"/>
            <a:ext cx="82296" cy="1828800"/>
          </a:xfrm>
          <a:prstGeom prst="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581912"/>
            <a:ext cx="5212080" cy="457200"/>
          </a:xfrm>
          <a:prstGeom prst="rect">
            <a:avLst/>
          </a:prstGeom>
          <a:noFill/>
        </p:spPr>
        <p:txBody>
          <a:bodyPr wrap="square" anchor="t" lIns="45720" rIns="45720">
            <a:spAutoFit/>
          </a:bodyPr>
          <a:lstStyle/>
          <a:p>
            <a:pPr algn="l">
              <a:spcAft>
                <a:spcPts val="600"/>
              </a:spcAft>
            </a:pPr>
            <a:r>
              <a:rPr sz="1900" b="1" i="0">
                <a:solidFill>
                  <a:srgbClr val="1F2A5A"/>
                </a:solidFill>
                <a:latin typeface="Calibri"/>
              </a:rPr>
              <a:t>Human-in-the-loop</a:t>
            </a:r>
          </a:p>
        </p:txBody>
      </p:sp>
      <p:sp>
        <p:nvSpPr>
          <p:cNvPr id="11" name="TextBox 10"/>
          <p:cNvSpPr txBox="1"/>
          <p:nvPr/>
        </p:nvSpPr>
        <p:spPr>
          <a:xfrm>
            <a:off x="640080" y="2011680"/>
            <a:ext cx="5212080" cy="1280160"/>
          </a:xfrm>
          <a:prstGeom prst="rect">
            <a:avLst/>
          </a:prstGeom>
          <a:noFill/>
        </p:spPr>
        <p:txBody>
          <a:bodyPr wrap="square" anchor="t" lIns="45720" rIns="45720">
            <a:spAutoFit/>
          </a:bodyPr>
          <a:lstStyle/>
          <a:p>
            <a:pPr algn="l">
              <a:spcAft>
                <a:spcPts val="600"/>
              </a:spcAft>
            </a:pPr>
            <a:r>
              <a:rPr sz="1600" b="0" i="0">
                <a:solidFill>
                  <a:srgbClr val="555B6E"/>
                </a:solidFill>
                <a:latin typeface="Calibri"/>
              </a:rPr>
              <a:t>Expert oversight to guide agents and correct errors in time.</a:t>
            </a:r>
          </a:p>
        </p:txBody>
      </p:sp>
      <p:sp>
        <p:nvSpPr>
          <p:cNvPr id="12" name="Rectangle 11"/>
          <p:cNvSpPr/>
          <p:nvPr/>
        </p:nvSpPr>
        <p:spPr>
          <a:xfrm>
            <a:off x="6217920" y="1508760"/>
            <a:ext cx="5486400" cy="18288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508760"/>
            <a:ext cx="82296" cy="1828800"/>
          </a:xfrm>
          <a:prstGeom prst="rect">
            <a:avLst/>
          </a:prstGeom>
          <a:solidFill>
            <a:srgbClr val="2E7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581912"/>
            <a:ext cx="5212080" cy="457200"/>
          </a:xfrm>
          <a:prstGeom prst="rect">
            <a:avLst/>
          </a:prstGeom>
          <a:noFill/>
        </p:spPr>
        <p:txBody>
          <a:bodyPr wrap="square" anchor="t" lIns="45720" rIns="45720">
            <a:spAutoFit/>
          </a:bodyPr>
          <a:lstStyle/>
          <a:p>
            <a:pPr algn="l">
              <a:spcAft>
                <a:spcPts val="600"/>
              </a:spcAft>
            </a:pPr>
            <a:r>
              <a:rPr sz="1900" b="1" i="0">
                <a:solidFill>
                  <a:srgbClr val="2E7D9A"/>
                </a:solidFill>
                <a:latin typeface="Calibri"/>
              </a:rPr>
              <a:t>Standardised protocols &amp; semantic planning</a:t>
            </a:r>
          </a:p>
        </p:txBody>
      </p:sp>
      <p:sp>
        <p:nvSpPr>
          <p:cNvPr id="15" name="TextBox 14"/>
          <p:cNvSpPr txBox="1"/>
          <p:nvPr/>
        </p:nvSpPr>
        <p:spPr>
          <a:xfrm>
            <a:off x="6400800" y="2011680"/>
            <a:ext cx="5212080" cy="1280160"/>
          </a:xfrm>
          <a:prstGeom prst="rect">
            <a:avLst/>
          </a:prstGeom>
          <a:noFill/>
        </p:spPr>
        <p:txBody>
          <a:bodyPr wrap="square" anchor="t" lIns="45720" rIns="45720">
            <a:spAutoFit/>
          </a:bodyPr>
          <a:lstStyle/>
          <a:p>
            <a:pPr algn="l">
              <a:spcAft>
                <a:spcPts val="600"/>
              </a:spcAft>
            </a:pPr>
            <a:r>
              <a:rPr sz="1600" b="0" i="0">
                <a:solidFill>
                  <a:srgbClr val="555B6E"/>
                </a:solidFill>
                <a:latin typeface="Calibri"/>
              </a:rPr>
              <a:t>Better coordination, less ambiguity, outputs aligned with clinical workflow &amp; intent.</a:t>
            </a:r>
          </a:p>
        </p:txBody>
      </p:sp>
      <p:sp>
        <p:nvSpPr>
          <p:cNvPr id="16" name="Rectangle 15"/>
          <p:cNvSpPr/>
          <p:nvPr/>
        </p:nvSpPr>
        <p:spPr>
          <a:xfrm>
            <a:off x="457200" y="3566160"/>
            <a:ext cx="5486400" cy="18288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566160"/>
            <a:ext cx="82296" cy="1828800"/>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639312"/>
            <a:ext cx="5212080" cy="457200"/>
          </a:xfrm>
          <a:prstGeom prst="rect">
            <a:avLst/>
          </a:prstGeom>
          <a:noFill/>
        </p:spPr>
        <p:txBody>
          <a:bodyPr wrap="square" anchor="t" lIns="45720" rIns="45720">
            <a:spAutoFit/>
          </a:bodyPr>
          <a:lstStyle/>
          <a:p>
            <a:pPr algn="l">
              <a:spcAft>
                <a:spcPts val="600"/>
              </a:spcAft>
            </a:pPr>
            <a:r>
              <a:rPr sz="1900" b="1" i="0">
                <a:solidFill>
                  <a:srgbClr val="C81E2B"/>
                </a:solidFill>
                <a:latin typeface="Calibri"/>
              </a:rPr>
              <a:t>Verifiable governance</a:t>
            </a:r>
          </a:p>
        </p:txBody>
      </p:sp>
      <p:sp>
        <p:nvSpPr>
          <p:cNvPr id="19" name="TextBox 18"/>
          <p:cNvSpPr txBox="1"/>
          <p:nvPr/>
        </p:nvSpPr>
        <p:spPr>
          <a:xfrm>
            <a:off x="640080" y="4069080"/>
            <a:ext cx="5212080" cy="1280160"/>
          </a:xfrm>
          <a:prstGeom prst="rect">
            <a:avLst/>
          </a:prstGeom>
          <a:noFill/>
        </p:spPr>
        <p:txBody>
          <a:bodyPr wrap="square" anchor="t" lIns="45720" rIns="45720">
            <a:spAutoFit/>
          </a:bodyPr>
          <a:lstStyle/>
          <a:p>
            <a:pPr algn="l">
              <a:spcAft>
                <a:spcPts val="600"/>
              </a:spcAft>
            </a:pPr>
            <a:r>
              <a:rPr sz="1600" b="0" i="0">
                <a:solidFill>
                  <a:srgbClr val="555B6E"/>
                </a:solidFill>
                <a:latin typeface="Calibri"/>
              </a:rPr>
              <a:t>Real-time behaviour monitoring, enforced safety limits, models predicting agent–environment interaction.</a:t>
            </a:r>
          </a:p>
        </p:txBody>
      </p:sp>
      <p:sp>
        <p:nvSpPr>
          <p:cNvPr id="20" name="Rectangle 19"/>
          <p:cNvSpPr/>
          <p:nvPr/>
        </p:nvSpPr>
        <p:spPr>
          <a:xfrm>
            <a:off x="6217920" y="3566160"/>
            <a:ext cx="5486400" cy="18288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3566160"/>
            <a:ext cx="82296" cy="1828800"/>
          </a:xfrm>
          <a:prstGeom prst="rect">
            <a:avLst/>
          </a:prstGeom>
          <a:solidFill>
            <a:srgbClr val="4C9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639312"/>
            <a:ext cx="5212080" cy="457200"/>
          </a:xfrm>
          <a:prstGeom prst="rect">
            <a:avLst/>
          </a:prstGeom>
          <a:noFill/>
        </p:spPr>
        <p:txBody>
          <a:bodyPr wrap="square" anchor="t" lIns="45720" rIns="45720">
            <a:spAutoFit/>
          </a:bodyPr>
          <a:lstStyle/>
          <a:p>
            <a:pPr algn="l">
              <a:spcAft>
                <a:spcPts val="600"/>
              </a:spcAft>
            </a:pPr>
            <a:r>
              <a:rPr sz="1900" b="1" i="0">
                <a:solidFill>
                  <a:srgbClr val="4C9A4A"/>
                </a:solidFill>
                <a:latin typeface="Calibri"/>
              </a:rPr>
              <a:t>Cross-specialty reasoning</a:t>
            </a:r>
          </a:p>
        </p:txBody>
      </p:sp>
      <p:sp>
        <p:nvSpPr>
          <p:cNvPr id="23" name="TextBox 22"/>
          <p:cNvSpPr txBox="1"/>
          <p:nvPr/>
        </p:nvSpPr>
        <p:spPr>
          <a:xfrm>
            <a:off x="6400800" y="4069080"/>
            <a:ext cx="5212080" cy="1280160"/>
          </a:xfrm>
          <a:prstGeom prst="rect">
            <a:avLst/>
          </a:prstGeom>
          <a:noFill/>
        </p:spPr>
        <p:txBody>
          <a:bodyPr wrap="square" anchor="t" lIns="45720" rIns="45720">
            <a:spAutoFit/>
          </a:bodyPr>
          <a:lstStyle/>
          <a:p>
            <a:pPr algn="l">
              <a:spcAft>
                <a:spcPts val="600"/>
              </a:spcAft>
            </a:pPr>
            <a:r>
              <a:rPr sz="1600" b="0" i="0">
                <a:solidFill>
                  <a:srgbClr val="555B6E"/>
                </a:solidFill>
                <a:latin typeface="Calibri"/>
              </a:rPr>
              <a:t>Shared causal reasoning + coherent context modelling between ophthalmic and systemic agents for interpretability.</a:t>
            </a:r>
          </a:p>
        </p:txBody>
      </p:sp>
      <p:sp>
        <p:nvSpPr>
          <p:cNvPr id="24" name="Rounded Rectangle 23"/>
          <p:cNvSpPr/>
          <p:nvPr/>
        </p:nvSpPr>
        <p:spPr>
          <a:xfrm>
            <a:off x="457200" y="5669280"/>
            <a:ext cx="11247120" cy="685800"/>
          </a:xfrm>
          <a:prstGeom prst="round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5669280"/>
            <a:ext cx="11247120" cy="685800"/>
          </a:xfrm>
          <a:prstGeom prst="rect">
            <a:avLst/>
          </a:prstGeom>
          <a:noFill/>
        </p:spPr>
        <p:txBody>
          <a:bodyPr wrap="square" anchor="ctr" lIns="45720" rIns="45720">
            <a:spAutoFit/>
          </a:bodyPr>
          <a:lstStyle/>
          <a:p>
            <a:pPr algn="ctr">
              <a:spcAft>
                <a:spcPts val="600"/>
              </a:spcAft>
            </a:pPr>
            <a:r>
              <a:rPr sz="1600" b="1" i="0">
                <a:solidFill>
                  <a:srgbClr val="FFFFFF"/>
                </a:solidFill>
                <a:latin typeface="Calibri"/>
              </a:rPr>
              <a:t>Privacy and fairness must be safeguarded at the core to earn clinician &amp; patient trust and ensure equitable care.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731520"/>
          </a:xfrm>
          <a:prstGeom prst="rect">
            <a:avLst/>
          </a:prstGeom>
          <a:noFill/>
        </p:spPr>
        <p:txBody>
          <a:bodyPr wrap="square" anchor="ctr" lIns="45720" rIns="45720">
            <a:spAutoFit/>
          </a:bodyPr>
          <a:lstStyle/>
          <a:p>
            <a:pPr algn="l">
              <a:spcAft>
                <a:spcPts val="600"/>
              </a:spcAft>
            </a:pPr>
            <a:r>
              <a:rPr sz="3000" b="1" i="0">
                <a:solidFill>
                  <a:srgbClr val="FFFFFF"/>
                </a:solidFill>
                <a:latin typeface="Calibri"/>
              </a:rPr>
              <a:t>Conclusion</a:t>
            </a:r>
          </a:p>
        </p:txBody>
      </p:sp>
      <p:sp>
        <p:nvSpPr>
          <p:cNvPr id="5" name="TextBox 4"/>
          <p:cNvSpPr txBox="1"/>
          <p:nvPr/>
        </p:nvSpPr>
        <p:spPr>
          <a:xfrm>
            <a:off x="457200" y="6446520"/>
            <a:ext cx="8229600" cy="320040"/>
          </a:xfrm>
          <a:prstGeom prst="rect">
            <a:avLst/>
          </a:prstGeom>
          <a:noFill/>
        </p:spPr>
        <p:txBody>
          <a:bodyPr wrap="square" anchor="t" lIns="45720" rIns="45720">
            <a:spAutoFit/>
          </a:bodyPr>
          <a:lstStyle/>
          <a:p>
            <a:pPr algn="l">
              <a:spcAft>
                <a:spcPts val="600"/>
              </a:spcAft>
            </a:pPr>
            <a:r>
              <a:rPr sz="1100" b="0" i="0">
                <a:solidFill>
                  <a:srgbClr val="555B6E"/>
                </a:solidFill>
                <a:latin typeface="Calibri"/>
              </a:rPr>
              <a:t>Zou et al., Lancet Digital Health 2026; 8: 100967</a:t>
            </a:r>
          </a:p>
        </p:txBody>
      </p:sp>
      <p:sp>
        <p:nvSpPr>
          <p:cNvPr id="6" name="TextBox 5"/>
          <p:cNvSpPr txBox="1"/>
          <p:nvPr/>
        </p:nvSpPr>
        <p:spPr>
          <a:xfrm>
            <a:off x="10820095" y="6446520"/>
            <a:ext cx="914400" cy="320040"/>
          </a:xfrm>
          <a:prstGeom prst="rect">
            <a:avLst/>
          </a:prstGeom>
          <a:noFill/>
        </p:spPr>
        <p:txBody>
          <a:bodyPr wrap="square" anchor="t" lIns="45720" rIns="45720">
            <a:spAutoFit/>
          </a:bodyPr>
          <a:lstStyle/>
          <a:p>
            <a:pPr algn="r">
              <a:spcAft>
                <a:spcPts val="600"/>
              </a:spcAft>
            </a:pPr>
            <a:r>
              <a:rPr sz="1100" b="0" i="0">
                <a:solidFill>
                  <a:srgbClr val="555B6E"/>
                </a:solidFill>
                <a:latin typeface="Calibri"/>
              </a:rPr>
              <a:t>13 / 15</a:t>
            </a:r>
          </a:p>
        </p:txBody>
      </p:sp>
      <p:sp>
        <p:nvSpPr>
          <p:cNvPr id="7" name="TextBox 6"/>
          <p:cNvSpPr txBox="1"/>
          <p:nvPr/>
        </p:nvSpPr>
        <p:spPr>
          <a:xfrm>
            <a:off x="548640" y="1371600"/>
            <a:ext cx="11155680" cy="3657600"/>
          </a:xfrm>
          <a:prstGeom prst="rect">
            <a:avLst/>
          </a:prstGeom>
          <a:noFill/>
        </p:spPr>
        <p:txBody>
          <a:bodyPr wrap="square">
            <a:spAutoFit/>
          </a:bodyPr>
          <a:lstStyle/>
          <a:p>
            <a:pPr>
              <a:spcAft>
                <a:spcPts val="800"/>
              </a:spcAft>
            </a:pPr>
            <a:r>
              <a:rPr sz="1900">
                <a:solidFill>
                  <a:srgbClr val="555B6E"/>
                </a:solidFill>
                <a:latin typeface="Calibri"/>
              </a:rPr>
              <a:t>■  Agentic AI moves medical AI from reactive prediction to autonomous, interactive and adaptive assistance</a:t>
            </a:r>
          </a:p>
          <a:p>
            <a:pPr>
              <a:spcAft>
                <a:spcPts val="800"/>
              </a:spcAft>
            </a:pPr>
            <a:r>
              <a:rPr sz="1900">
                <a:solidFill>
                  <a:srgbClr val="555B6E"/>
                </a:solidFill>
                <a:latin typeface="Calibri"/>
              </a:rPr>
              <a:t>■  Can analyse clinical patterns, assist diagnosis, personalise treatment and support longitudinal care</a:t>
            </a:r>
          </a:p>
          <a:p>
            <a:pPr>
              <a:spcAft>
                <a:spcPts val="800"/>
              </a:spcAft>
            </a:pPr>
            <a:r>
              <a:rPr sz="1900">
                <a:solidFill>
                  <a:srgbClr val="555B6E"/>
                </a:solidFill>
                <a:latin typeface="Calibri"/>
              </a:rPr>
              <a:t>■  Ophthalmology is a compelling first domain: multimodal and protocol-driven</a:t>
            </a:r>
          </a:p>
          <a:p>
            <a:pPr>
              <a:spcAft>
                <a:spcPts val="800"/>
              </a:spcAft>
            </a:pPr>
            <a:r>
              <a:rPr sz="1900">
                <a:solidFill>
                  <a:srgbClr val="555B6E"/>
                </a:solidFill>
                <a:latin typeface="Calibri"/>
              </a:rPr>
              <a:t>■  The cataract case shows four agents completing the consultation pipeline before clinician review</a:t>
            </a:r>
          </a:p>
          <a:p>
            <a:pPr>
              <a:spcAft>
                <a:spcPts val="800"/>
              </a:spcAft>
            </a:pPr>
            <a:r>
              <a:rPr sz="1900">
                <a:solidFill>
                  <a:srgbClr val="555B6E"/>
                </a:solidFill>
                <a:latin typeface="Calibri"/>
              </a:rPr>
              <a:t>■  Clinical autonomy is within reach, but only with human oversight, standard protocols, verifiable governance, and privacy/fairness by design</a:t>
            </a:r>
          </a:p>
        </p:txBody>
      </p:sp>
      <p:sp>
        <p:nvSpPr>
          <p:cNvPr id="8" name="Rectangle 7"/>
          <p:cNvSpPr/>
          <p:nvPr/>
        </p:nvSpPr>
        <p:spPr>
          <a:xfrm>
            <a:off x="548640" y="5074920"/>
            <a:ext cx="11155680" cy="118872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074920"/>
            <a:ext cx="82296" cy="1188720"/>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10789920" cy="1097280"/>
          </a:xfrm>
          <a:prstGeom prst="rect">
            <a:avLst/>
          </a:prstGeom>
          <a:noFill/>
        </p:spPr>
        <p:txBody>
          <a:bodyPr wrap="square" anchor="ctr" lIns="45720" rIns="45720">
            <a:spAutoFit/>
          </a:bodyPr>
          <a:lstStyle/>
          <a:p>
            <a:pPr algn="l">
              <a:spcAft>
                <a:spcPts val="600"/>
              </a:spcAft>
            </a:pPr>
            <a:r>
              <a:rPr sz="1700" b="0" i="1">
                <a:solidFill>
                  <a:srgbClr val="1F2A5A"/>
                </a:solidFill>
                <a:latin typeface="Calibri"/>
              </a:rPr>
              <a:t>Answer to the title question: “partially” — the technology is ready for supervised autonomy on routine tasks; full autonomy awaits solutions to safety, coordination and trust.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731520"/>
          </a:xfrm>
          <a:prstGeom prst="rect">
            <a:avLst/>
          </a:prstGeom>
          <a:noFill/>
        </p:spPr>
        <p:txBody>
          <a:bodyPr wrap="square" anchor="ctr" lIns="45720" rIns="45720">
            <a:spAutoFit/>
          </a:bodyPr>
          <a:lstStyle/>
          <a:p>
            <a:pPr algn="l">
              <a:spcAft>
                <a:spcPts val="600"/>
              </a:spcAft>
            </a:pPr>
            <a:r>
              <a:rPr sz="3000" b="1" i="0">
                <a:solidFill>
                  <a:srgbClr val="FFFFFF"/>
                </a:solidFill>
                <a:latin typeface="Calibri"/>
              </a:rPr>
              <a:t>Critical Discussion</a:t>
            </a:r>
          </a:p>
        </p:txBody>
      </p:sp>
      <p:sp>
        <p:nvSpPr>
          <p:cNvPr id="5" name="TextBox 4"/>
          <p:cNvSpPr txBox="1"/>
          <p:nvPr/>
        </p:nvSpPr>
        <p:spPr>
          <a:xfrm>
            <a:off x="457200" y="1024128"/>
            <a:ext cx="11247120" cy="411480"/>
          </a:xfrm>
          <a:prstGeom prst="rect">
            <a:avLst/>
          </a:prstGeom>
          <a:noFill/>
        </p:spPr>
        <p:txBody>
          <a:bodyPr wrap="square" anchor="t" lIns="45720" rIns="45720">
            <a:spAutoFit/>
          </a:bodyPr>
          <a:lstStyle/>
          <a:p>
            <a:pPr algn="l">
              <a:spcAft>
                <a:spcPts val="600"/>
              </a:spcAft>
            </a:pPr>
            <a:r>
              <a:rPr sz="1500" b="0" i="1">
                <a:solidFill>
                  <a:srgbClr val="2E7D9A"/>
                </a:solidFill>
                <a:latin typeface="Calibri"/>
              </a:rPr>
              <a:t>Our assessment for lab discussion</a:t>
            </a:r>
          </a:p>
        </p:txBody>
      </p:sp>
      <p:sp>
        <p:nvSpPr>
          <p:cNvPr id="6" name="TextBox 5"/>
          <p:cNvSpPr txBox="1"/>
          <p:nvPr/>
        </p:nvSpPr>
        <p:spPr>
          <a:xfrm>
            <a:off x="457200" y="6446520"/>
            <a:ext cx="8229600" cy="320040"/>
          </a:xfrm>
          <a:prstGeom prst="rect">
            <a:avLst/>
          </a:prstGeom>
          <a:noFill/>
        </p:spPr>
        <p:txBody>
          <a:bodyPr wrap="square" anchor="t" lIns="45720" rIns="45720">
            <a:spAutoFit/>
          </a:bodyPr>
          <a:lstStyle/>
          <a:p>
            <a:pPr algn="l">
              <a:spcAft>
                <a:spcPts val="600"/>
              </a:spcAft>
            </a:pPr>
            <a:r>
              <a:rPr sz="1100" b="0" i="0">
                <a:solidFill>
                  <a:srgbClr val="555B6E"/>
                </a:solidFill>
                <a:latin typeface="Calibri"/>
              </a:rPr>
              <a:t>Zou et al., Lancet Digital Health 2026; 8: 100967</a:t>
            </a:r>
          </a:p>
        </p:txBody>
      </p:sp>
      <p:sp>
        <p:nvSpPr>
          <p:cNvPr id="7" name="TextBox 6"/>
          <p:cNvSpPr txBox="1"/>
          <p:nvPr/>
        </p:nvSpPr>
        <p:spPr>
          <a:xfrm>
            <a:off x="10820095" y="6446520"/>
            <a:ext cx="914400" cy="320040"/>
          </a:xfrm>
          <a:prstGeom prst="rect">
            <a:avLst/>
          </a:prstGeom>
          <a:noFill/>
        </p:spPr>
        <p:txBody>
          <a:bodyPr wrap="square" anchor="t" lIns="45720" rIns="45720">
            <a:spAutoFit/>
          </a:bodyPr>
          <a:lstStyle/>
          <a:p>
            <a:pPr algn="r">
              <a:spcAft>
                <a:spcPts val="600"/>
              </a:spcAft>
            </a:pPr>
            <a:r>
              <a:rPr sz="1100" b="0" i="0">
                <a:solidFill>
                  <a:srgbClr val="555B6E"/>
                </a:solidFill>
                <a:latin typeface="Calibri"/>
              </a:rPr>
              <a:t>14 / 15</a:t>
            </a:r>
          </a:p>
        </p:txBody>
      </p:sp>
      <p:sp>
        <p:nvSpPr>
          <p:cNvPr id="8" name="Rectangle 7"/>
          <p:cNvSpPr/>
          <p:nvPr/>
        </p:nvSpPr>
        <p:spPr>
          <a:xfrm>
            <a:off x="457200" y="1508760"/>
            <a:ext cx="5486400" cy="40233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508760"/>
            <a:ext cx="82296" cy="4023360"/>
          </a:xfrm>
          <a:prstGeom prst="rect">
            <a:avLst/>
          </a:prstGeom>
          <a:solidFill>
            <a:srgbClr val="4C9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581912"/>
            <a:ext cx="5212080" cy="457200"/>
          </a:xfrm>
          <a:prstGeom prst="rect">
            <a:avLst/>
          </a:prstGeom>
          <a:noFill/>
        </p:spPr>
        <p:txBody>
          <a:bodyPr wrap="square" anchor="t" lIns="45720" rIns="45720">
            <a:spAutoFit/>
          </a:bodyPr>
          <a:lstStyle/>
          <a:p>
            <a:pPr algn="l">
              <a:spcAft>
                <a:spcPts val="600"/>
              </a:spcAft>
            </a:pPr>
            <a:r>
              <a:rPr sz="1700" b="1" i="0">
                <a:solidFill>
                  <a:srgbClr val="4C9A4A"/>
                </a:solidFill>
                <a:latin typeface="Calibri"/>
              </a:rPr>
              <a:t>Strengths</a:t>
            </a:r>
          </a:p>
        </p:txBody>
      </p:sp>
      <p:sp>
        <p:nvSpPr>
          <p:cNvPr id="11" name="TextBox 10"/>
          <p:cNvSpPr txBox="1"/>
          <p:nvPr/>
        </p:nvSpPr>
        <p:spPr>
          <a:xfrm>
            <a:off x="640080" y="2011680"/>
            <a:ext cx="5212080" cy="3474720"/>
          </a:xfrm>
          <a:prstGeom prst="rect">
            <a:avLst/>
          </a:prstGeom>
          <a:noFill/>
        </p:spPr>
        <p:txBody>
          <a:bodyPr wrap="square" anchor="t" lIns="45720" rIns="45720">
            <a:spAutoFit/>
          </a:bodyPr>
          <a:lstStyle/>
          <a:p>
            <a:pPr algn="l">
              <a:spcAft>
                <a:spcPts val="600"/>
              </a:spcAft>
            </a:pPr>
            <a:r>
              <a:rPr sz="1600" b="0" i="0">
                <a:solidFill>
                  <a:srgbClr val="555B6E"/>
                </a:solidFill>
                <a:latin typeface="Calibri"/>
              </a:rPr>
              <a:t>• Clear conceptual model contrasting traditional vs. agentic AI
• Concrete, end-to-end clinical use case (cataract)
• Balanced view: candid list of challenges &amp; enablers
• Strong author team (NUS, SERI, Yale, Moorfields/UCL)
• Timely topic in a high-impact Q1 venue</a:t>
            </a:r>
          </a:p>
        </p:txBody>
      </p:sp>
      <p:sp>
        <p:nvSpPr>
          <p:cNvPr id="12" name="Rectangle 11"/>
          <p:cNvSpPr/>
          <p:nvPr/>
        </p:nvSpPr>
        <p:spPr>
          <a:xfrm>
            <a:off x="6217920" y="1508760"/>
            <a:ext cx="5486400" cy="40233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508760"/>
            <a:ext cx="82296" cy="4023360"/>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581912"/>
            <a:ext cx="5212080" cy="457200"/>
          </a:xfrm>
          <a:prstGeom prst="rect">
            <a:avLst/>
          </a:prstGeom>
          <a:noFill/>
        </p:spPr>
        <p:txBody>
          <a:bodyPr wrap="square" anchor="t" lIns="45720" rIns="45720">
            <a:spAutoFit/>
          </a:bodyPr>
          <a:lstStyle/>
          <a:p>
            <a:pPr algn="l">
              <a:spcAft>
                <a:spcPts val="600"/>
              </a:spcAft>
            </a:pPr>
            <a:r>
              <a:rPr sz="1700" b="1" i="0">
                <a:solidFill>
                  <a:srgbClr val="C81E2B"/>
                </a:solidFill>
                <a:latin typeface="Calibri"/>
              </a:rPr>
              <a:t>Limitations</a:t>
            </a:r>
          </a:p>
        </p:txBody>
      </p:sp>
      <p:sp>
        <p:nvSpPr>
          <p:cNvPr id="15" name="TextBox 14"/>
          <p:cNvSpPr txBox="1"/>
          <p:nvPr/>
        </p:nvSpPr>
        <p:spPr>
          <a:xfrm>
            <a:off x="6400800" y="2011680"/>
            <a:ext cx="5212080" cy="3474720"/>
          </a:xfrm>
          <a:prstGeom prst="rect">
            <a:avLst/>
          </a:prstGeom>
          <a:noFill/>
        </p:spPr>
        <p:txBody>
          <a:bodyPr wrap="square" anchor="t" lIns="45720" rIns="45720">
            <a:spAutoFit/>
          </a:bodyPr>
          <a:lstStyle/>
          <a:p>
            <a:pPr algn="l">
              <a:spcAft>
                <a:spcPts val="600"/>
              </a:spcAft>
            </a:pPr>
            <a:r>
              <a:rPr sz="1600" b="0" i="0">
                <a:solidFill>
                  <a:srgbClr val="555B6E"/>
                </a:solidFill>
                <a:latin typeface="Calibri"/>
              </a:rPr>
              <a:t>• Comment article: no implementation, dataset or quantitative evaluation
• Agent architecture, models, and communication protocol not specified
• No latency, accuracy or cost measurements for the workflow
• Security / privacy of inter-agent communication only briefly mentioned
• Edge-device feasibility flagged but not analysed</a:t>
            </a:r>
          </a:p>
        </p:txBody>
      </p:sp>
      <p:sp>
        <p:nvSpPr>
          <p:cNvPr id="16" name="TextBox 15"/>
          <p:cNvSpPr txBox="1"/>
          <p:nvPr/>
        </p:nvSpPr>
        <p:spPr>
          <a:xfrm>
            <a:off x="457200" y="5669280"/>
            <a:ext cx="11247120" cy="640080"/>
          </a:xfrm>
          <a:prstGeom prst="rect">
            <a:avLst/>
          </a:prstGeom>
          <a:noFill/>
        </p:spPr>
        <p:txBody>
          <a:bodyPr wrap="square" anchor="t" lIns="45720" rIns="45720">
            <a:spAutoFit/>
          </a:bodyPr>
          <a:lstStyle/>
          <a:p>
            <a:pPr algn="ctr">
              <a:spcAft>
                <a:spcPts val="600"/>
              </a:spcAft>
            </a:pPr>
            <a:r>
              <a:rPr sz="1500" b="0" i="1">
                <a:solidFill>
                  <a:srgbClr val="1F2A5A"/>
                </a:solidFill>
                <a:latin typeface="Calibri"/>
              </a:rPr>
              <a:t>Open questions: How should agents communicate securely and efficiently on resource-constrained edge devices? How do we validate and audit multi-agent decisions?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49039"/>
            <a:ext cx="12191695" cy="64008"/>
          </a:xfrm>
          <a:prstGeom prst="rect">
            <a:avLst/>
          </a:prstGeom>
          <a:solidFill>
            <a:srgbClr val="C8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2194560"/>
            <a:ext cx="12191695" cy="1097280"/>
          </a:xfrm>
          <a:prstGeom prst="rect">
            <a:avLst/>
          </a:prstGeom>
          <a:noFill/>
        </p:spPr>
        <p:txBody>
          <a:bodyPr wrap="square" anchor="t" lIns="45720" rIns="45720">
            <a:spAutoFit/>
          </a:bodyPr>
          <a:lstStyle/>
          <a:p>
            <a:pPr algn="ctr">
              <a:spcAft>
                <a:spcPts val="600"/>
              </a:spcAft>
            </a:pPr>
            <a:r>
              <a:rPr sz="5400" b="1" i="0">
                <a:solidFill>
                  <a:srgbClr val="FFFFFF"/>
                </a:solidFill>
                <a:latin typeface="Calibri"/>
              </a:rPr>
              <a:t>Thank You</a:t>
            </a:r>
          </a:p>
        </p:txBody>
      </p:sp>
      <p:sp>
        <p:nvSpPr>
          <p:cNvPr id="5" name="TextBox 4"/>
          <p:cNvSpPr txBox="1"/>
          <p:nvPr/>
        </p:nvSpPr>
        <p:spPr>
          <a:xfrm>
            <a:off x="0" y="3063240"/>
            <a:ext cx="12191695" cy="548640"/>
          </a:xfrm>
          <a:prstGeom prst="rect">
            <a:avLst/>
          </a:prstGeom>
          <a:noFill/>
        </p:spPr>
        <p:txBody>
          <a:bodyPr wrap="square" anchor="t" lIns="45720" rIns="45720">
            <a:spAutoFit/>
          </a:bodyPr>
          <a:lstStyle/>
          <a:p>
            <a:pPr algn="ctr">
              <a:spcAft>
                <a:spcPts val="600"/>
              </a:spcAft>
            </a:pPr>
            <a:r>
              <a:rPr sz="2400" b="0" i="0">
                <a:solidFill>
                  <a:srgbClr val="F0A21C"/>
                </a:solidFill>
                <a:latin typeface="Calibri"/>
              </a:rPr>
              <a:t>Questions &amp; Discussion</a:t>
            </a:r>
          </a:p>
        </p:txBody>
      </p:sp>
      <p:sp>
        <p:nvSpPr>
          <p:cNvPr id="6" name="TextBox 5"/>
          <p:cNvSpPr txBox="1"/>
          <p:nvPr/>
        </p:nvSpPr>
        <p:spPr>
          <a:xfrm>
            <a:off x="914400" y="4114800"/>
            <a:ext cx="10362895" cy="1097280"/>
          </a:xfrm>
          <a:prstGeom prst="rect">
            <a:avLst/>
          </a:prstGeom>
          <a:noFill/>
        </p:spPr>
        <p:txBody>
          <a:bodyPr wrap="square" anchor="t" lIns="45720" rIns="45720">
            <a:spAutoFit/>
          </a:bodyPr>
          <a:lstStyle/>
          <a:p>
            <a:pPr algn="ctr">
              <a:spcAft>
                <a:spcPts val="600"/>
              </a:spcAft>
            </a:pPr>
            <a:r>
              <a:rPr sz="1400" b="0" i="0">
                <a:solidFill>
                  <a:srgbClr val="D6DBEA"/>
                </a:solidFill>
                <a:latin typeface="Calibri"/>
              </a:rPr>
              <a:t>Zou K, Goh JHL, Yang GD, Srinivasan S, Chen Q, Keane PA, Tham Y-C. Agentic artificial intelligence in eye care: is clinical autonomy finally within reach? Lancet Digit Health 2026; 8: 100967. doi:10.1016/j.landig.2025.100967</a:t>
            </a:r>
          </a:p>
        </p:txBody>
      </p:sp>
      <p:sp>
        <p:nvSpPr>
          <p:cNvPr id="7" name="TextBox 6"/>
          <p:cNvSpPr txBox="1"/>
          <p:nvPr/>
        </p:nvSpPr>
        <p:spPr>
          <a:xfrm>
            <a:off x="0" y="5669280"/>
            <a:ext cx="12191695" cy="822960"/>
          </a:xfrm>
          <a:prstGeom prst="rect">
            <a:avLst/>
          </a:prstGeom>
          <a:noFill/>
        </p:spPr>
        <p:txBody>
          <a:bodyPr wrap="square" anchor="t" lIns="45720" rIns="45720">
            <a:spAutoFit/>
          </a:bodyPr>
          <a:lstStyle/>
          <a:p>
            <a:pPr algn="ctr">
              <a:spcAft>
                <a:spcPts val="200"/>
              </a:spcAft>
            </a:pPr>
            <a:r>
              <a:rPr sz="1800" b="1" i="0">
                <a:solidFill>
                  <a:srgbClr val="FFFFFF"/>
                </a:solidFill>
                <a:latin typeface="Calibri"/>
              </a:rPr>
              <a:t>Sheikh Sayed Bin Rahman</a:t>
            </a:r>
          </a:p>
          <a:p>
            <a:pPr algn="ctr">
              <a:spcAft>
                <a:spcPts val="600"/>
              </a:spcAft>
            </a:pPr>
            <a:r>
              <a:rPr sz="1500" b="0" i="0">
                <a:solidFill>
                  <a:srgbClr val="B0B8D0"/>
                </a:solidFill>
                <a:latin typeface="Calibri"/>
              </a:rPr>
              <a:t>PIC Lab, Kumoh National Institute of Technology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